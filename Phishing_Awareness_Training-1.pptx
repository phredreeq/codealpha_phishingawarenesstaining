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8" d="100"/>
          <a:sy n="68" d="100"/>
        </p:scale>
        <p:origin x="5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3240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E2761"/>
          </a:solidFill>
          <a:ln/>
        </p:spPr>
      </p:sp>
      <p:sp>
        <p:nvSpPr>
          <p:cNvPr id="3" name="Shape 1"/>
          <p:cNvSpPr/>
          <p:nvPr/>
        </p:nvSpPr>
        <p:spPr>
          <a:xfrm>
            <a:off x="-1371600" y="4754880"/>
            <a:ext cx="3657600" cy="3657600"/>
          </a:xfrm>
          <a:prstGeom prst="ellipse">
            <a:avLst/>
          </a:prstGeom>
          <a:solidFill>
            <a:srgbClr val="1E2761"/>
          </a:solidFill>
          <a:ln/>
        </p:spPr>
      </p:sp>
      <p:sp>
        <p:nvSpPr>
          <p:cNvPr id="4" name="Shape 2"/>
          <p:cNvSpPr/>
          <p:nvPr/>
        </p:nvSpPr>
        <p:spPr>
          <a:xfrm>
            <a:off x="640080" y="640080"/>
            <a:ext cx="640080" cy="640080"/>
          </a:xfrm>
          <a:prstGeom prst="ellipse">
            <a:avLst/>
          </a:prstGeom>
          <a:solidFill>
            <a:srgbClr val="E63946"/>
          </a:solidFill>
          <a:ln/>
        </p:spPr>
      </p:sp>
      <p:sp>
        <p:nvSpPr>
          <p:cNvPr id="5" name="Text 3"/>
          <p:cNvSpPr/>
          <p:nvPr/>
        </p:nvSpPr>
        <p:spPr>
          <a:xfrm>
            <a:off x="640080" y="640080"/>
            <a:ext cx="640080" cy="640080"/>
          </a:xfrm>
          <a:prstGeom prst="rect">
            <a:avLst/>
          </a:prstGeom>
          <a:noFill/>
          <a:ln/>
        </p:spPr>
        <p:txBody>
          <a:bodyPr wrap="square" rtlCol="0" anchor="ctr"/>
          <a:lstStyle/>
          <a:p>
            <a:pPr marL="0" indent="0" algn="ctr">
              <a:buNone/>
            </a:pPr>
            <a:r>
              <a:rPr lang="en-US" sz="1960" b="1" dirty="0">
                <a:solidFill>
                  <a:srgbClr val="FFFFFF"/>
                </a:solidFill>
                <a:latin typeface="Calibri" pitchFamily="34" charset="0"/>
                <a:ea typeface="Calibri" pitchFamily="34" charset="-122"/>
                <a:cs typeface="Calibri" pitchFamily="34" charset="-120"/>
              </a:rPr>
              <a:t>⚠</a:t>
            </a:r>
            <a:endParaRPr lang="en-US" sz="1960" dirty="0"/>
          </a:p>
        </p:txBody>
      </p:sp>
      <p:sp>
        <p:nvSpPr>
          <p:cNvPr id="6" name="Text 4"/>
          <p:cNvSpPr/>
          <p:nvPr/>
        </p:nvSpPr>
        <p:spPr>
          <a:xfrm>
            <a:off x="640080" y="2468880"/>
            <a:ext cx="10515600" cy="118872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PHISHING AWARENESS TRAINING</a:t>
            </a:r>
            <a:endParaRPr lang="en-US" sz="4400" dirty="0"/>
          </a:p>
        </p:txBody>
      </p:sp>
      <p:sp>
        <p:nvSpPr>
          <p:cNvPr id="7" name="Text 5"/>
          <p:cNvSpPr/>
          <p:nvPr/>
        </p:nvSpPr>
        <p:spPr>
          <a:xfrm>
            <a:off x="640080" y="3520440"/>
            <a:ext cx="10515600" cy="548640"/>
          </a:xfrm>
          <a:prstGeom prst="rect">
            <a:avLst/>
          </a:prstGeom>
          <a:noFill/>
          <a:ln/>
        </p:spPr>
        <p:txBody>
          <a:bodyPr wrap="square" rtlCol="0" anchor="ctr"/>
          <a:lstStyle/>
          <a:p>
            <a:pPr marL="0" indent="0" algn="ctr">
              <a:buNone/>
            </a:pPr>
            <a:r>
              <a:rPr lang="en-US" b="1" i="1" dirty="0" smtClean="0">
                <a:solidFill>
                  <a:srgbClr val="CADCFC"/>
                </a:solidFill>
                <a:latin typeface="Times New Roman" panose="02020603050405020304" pitchFamily="18" charset="0"/>
                <a:cs typeface="Times New Roman" panose="02020603050405020304" pitchFamily="18" charset="0"/>
              </a:rPr>
              <a:t>PREPARED BY FREDRICK AGUFENWA</a:t>
            </a:r>
            <a:endParaRPr lang="en-US" sz="1800" b="1" dirty="0">
              <a:latin typeface="Times New Roman" panose="02020603050405020304" pitchFamily="18" charset="0"/>
              <a:cs typeface="Times New Roman" panose="02020603050405020304" pitchFamily="18" charset="0"/>
            </a:endParaRPr>
          </a:p>
        </p:txBody>
      </p:sp>
      <p:sp>
        <p:nvSpPr>
          <p:cNvPr id="8" name="Text 6"/>
          <p:cNvSpPr/>
          <p:nvPr/>
        </p:nvSpPr>
        <p:spPr>
          <a:xfrm>
            <a:off x="640080" y="5920002"/>
            <a:ext cx="9144000" cy="569288"/>
          </a:xfrm>
          <a:prstGeom prst="rect">
            <a:avLst/>
          </a:prstGeom>
          <a:noFill/>
          <a:ln/>
        </p:spPr>
        <p:txBody>
          <a:bodyPr wrap="square" rtlCol="0" anchor="ctr"/>
          <a:lstStyle/>
          <a:p>
            <a:pPr marL="0" indent="0">
              <a:buNone/>
            </a:pPr>
            <a:r>
              <a:rPr lang="en-US" sz="1600" dirty="0">
                <a:solidFill>
                  <a:srgbClr val="CADCFC"/>
                </a:solidFill>
                <a:latin typeface="Calibri" pitchFamily="34" charset="0"/>
                <a:ea typeface="Calibri" pitchFamily="34" charset="-122"/>
                <a:cs typeface="Calibri" pitchFamily="34" charset="-120"/>
              </a:rPr>
              <a:t>CodeAlpha Cybersecurity Internship </a:t>
            </a:r>
            <a:r>
              <a:rPr lang="en-US" sz="1600" dirty="0" smtClean="0">
                <a:solidFill>
                  <a:srgbClr val="CADCFC"/>
                </a:solidFill>
                <a:latin typeface="Calibri" pitchFamily="34" charset="0"/>
                <a:ea typeface="Calibri" pitchFamily="34" charset="-122"/>
                <a:cs typeface="Calibri" pitchFamily="34" charset="-120"/>
              </a:rPr>
              <a:t> |  </a:t>
            </a:r>
            <a:r>
              <a:rPr lang="en-US" sz="1600" dirty="0">
                <a:solidFill>
                  <a:srgbClr val="CADCFC"/>
                </a:solidFill>
                <a:latin typeface="Calibri" pitchFamily="34" charset="0"/>
                <a:ea typeface="Calibri" pitchFamily="34" charset="-122"/>
                <a:cs typeface="Calibri" pitchFamily="34" charset="-120"/>
              </a:rPr>
              <a:t>Fredrick Agufenwa</a:t>
            </a:r>
            <a:endParaRPr lang="en-US" sz="1600" dirty="0"/>
          </a:p>
        </p:txBody>
      </p:sp>
      <p:sp>
        <p:nvSpPr>
          <p:cNvPr id="9" name="Text 5"/>
          <p:cNvSpPr/>
          <p:nvPr/>
        </p:nvSpPr>
        <p:spPr>
          <a:xfrm>
            <a:off x="1028150" y="4308741"/>
            <a:ext cx="10127530" cy="548640"/>
          </a:xfrm>
          <a:prstGeom prst="rect">
            <a:avLst/>
          </a:prstGeom>
          <a:noFill/>
          <a:ln/>
        </p:spPr>
        <p:txBody>
          <a:bodyPr wrap="square" rtlCol="0" anchor="ctr"/>
          <a:lstStyle/>
          <a:p>
            <a:pPr marL="0" indent="0" algn="ctr">
              <a:buNone/>
            </a:pPr>
            <a:r>
              <a:rPr lang="en-US" sz="2800" i="1" dirty="0" smtClean="0">
                <a:solidFill>
                  <a:srgbClr val="CADCFC"/>
                </a:solidFill>
                <a:latin typeface="Book Antiqua" panose="02040602050305030304" pitchFamily="18" charset="0"/>
                <a:cs typeface="Calibri" pitchFamily="34" charset="-120"/>
              </a:rPr>
              <a:t>CODEALPHA CYBER SECURITY INTERNSHIP</a:t>
            </a:r>
            <a:endParaRPr lang="en-US" sz="2800" dirty="0">
              <a:latin typeface="Book Antiqua" panose="0204060205030503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What Is Phishing?</a:t>
            </a:r>
            <a:endParaRPr lang="en-US" sz="3200" dirty="0"/>
          </a:p>
        </p:txBody>
      </p:sp>
      <p:sp>
        <p:nvSpPr>
          <p:cNvPr id="3" name="Text 1"/>
          <p:cNvSpPr/>
          <p:nvPr/>
        </p:nvSpPr>
        <p:spPr>
          <a:xfrm>
            <a:off x="548640" y="1371600"/>
            <a:ext cx="6035040" cy="2267146"/>
          </a:xfrm>
          <a:prstGeom prst="rect">
            <a:avLst/>
          </a:prstGeom>
          <a:noFill/>
          <a:ln/>
        </p:spPr>
        <p:txBody>
          <a:bodyPr wrap="square" rtlCol="0" anchor="t"/>
          <a:lstStyle/>
          <a:p>
            <a:pPr marL="0" indent="0" algn="just">
              <a:lnSpc>
                <a:spcPct val="125000"/>
              </a:lnSpc>
              <a:buNone/>
            </a:pPr>
            <a:r>
              <a:rPr lang="en-US" dirty="0">
                <a:solidFill>
                  <a:srgbClr val="1A1D2B"/>
                </a:solidFill>
                <a:latin typeface="Calibri" pitchFamily="34" charset="0"/>
                <a:ea typeface="Calibri" pitchFamily="34" charset="-122"/>
                <a:cs typeface="Calibri" pitchFamily="34" charset="-120"/>
              </a:rPr>
              <a:t>Phishing is a form of social </a:t>
            </a:r>
            <a:r>
              <a:rPr lang="en-US" dirty="0" smtClean="0">
                <a:solidFill>
                  <a:srgbClr val="1A1D2B"/>
                </a:solidFill>
                <a:latin typeface="Calibri" pitchFamily="34" charset="0"/>
                <a:ea typeface="Calibri" pitchFamily="34" charset="-122"/>
                <a:cs typeface="Calibri" pitchFamily="34" charset="-120"/>
              </a:rPr>
              <a:t>engineering. Social engineering is </a:t>
            </a:r>
            <a:r>
              <a:rPr lang="en-US" dirty="0">
                <a:solidFill>
                  <a:srgbClr val="1A1D2B"/>
                </a:solidFill>
                <a:latin typeface="Calibri" pitchFamily="34" charset="0"/>
                <a:ea typeface="Calibri" pitchFamily="34" charset="-122"/>
                <a:cs typeface="Calibri" pitchFamily="34" charset="-120"/>
              </a:rPr>
              <a:t>an attack that targets people, not systems. Instead of breaking through technical defenses, an attacker tricks someone into voluntarily handing over something valuable: a password, financial details, or system access.</a:t>
            </a:r>
            <a:endParaRPr lang="en-US" dirty="0"/>
          </a:p>
        </p:txBody>
      </p:sp>
      <p:sp>
        <p:nvSpPr>
          <p:cNvPr id="5" name="Shape 3"/>
          <p:cNvSpPr/>
          <p:nvPr/>
        </p:nvSpPr>
        <p:spPr>
          <a:xfrm>
            <a:off x="7040880" y="1371600"/>
            <a:ext cx="4480560" cy="4206240"/>
          </a:xfrm>
          <a:prstGeom prst="roundRect">
            <a:avLst>
              <a:gd name="adj" fmla="val 2609"/>
            </a:avLst>
          </a:prstGeom>
          <a:solidFill>
            <a:srgbClr val="F7F8FC"/>
          </a:solidFill>
          <a:ln/>
          <a:effectLst>
            <a:outerShdw blurRad="101600" dist="38100" dir="5400000" algn="bl" rotWithShape="0">
              <a:srgbClr val="888888">
                <a:alpha val="25000"/>
              </a:srgbClr>
            </a:outerShdw>
          </a:effectLst>
        </p:spPr>
      </p:sp>
      <p:sp>
        <p:nvSpPr>
          <p:cNvPr id="6" name="Shape 4"/>
          <p:cNvSpPr/>
          <p:nvPr/>
        </p:nvSpPr>
        <p:spPr>
          <a:xfrm>
            <a:off x="7406640" y="1737360"/>
            <a:ext cx="594360" cy="594360"/>
          </a:xfrm>
          <a:prstGeom prst="ellipse">
            <a:avLst/>
          </a:prstGeom>
          <a:solidFill>
            <a:srgbClr val="1E2761"/>
          </a:solidFill>
          <a:ln/>
        </p:spPr>
      </p:sp>
      <p:sp>
        <p:nvSpPr>
          <p:cNvPr id="7" name="Text 5"/>
          <p:cNvSpPr/>
          <p:nvPr/>
        </p:nvSpPr>
        <p:spPr>
          <a:xfrm>
            <a:off x="7406640" y="1737360"/>
            <a:ext cx="594360" cy="594360"/>
          </a:xfrm>
          <a:prstGeom prst="rect">
            <a:avLst/>
          </a:prstGeom>
          <a:noFill/>
          <a:ln/>
        </p:spPr>
        <p:txBody>
          <a:bodyPr wrap="square" rtlCol="0" anchor="ctr"/>
          <a:lstStyle/>
          <a:p>
            <a:pPr marL="0" indent="0" algn="ctr">
              <a:buNone/>
            </a:pPr>
            <a:r>
              <a:rPr lang="en-US" sz="1820" b="1" dirty="0">
                <a:solidFill>
                  <a:srgbClr val="FFFFFF"/>
                </a:solidFill>
                <a:latin typeface="Calibri" pitchFamily="34" charset="0"/>
                <a:ea typeface="Calibri" pitchFamily="34" charset="-122"/>
                <a:cs typeface="Calibri" pitchFamily="34" charset="-120"/>
              </a:rPr>
              <a:t>✉</a:t>
            </a:r>
            <a:endParaRPr lang="en-US" sz="1820" dirty="0"/>
          </a:p>
        </p:txBody>
      </p:sp>
      <p:sp>
        <p:nvSpPr>
          <p:cNvPr id="8" name="Text 6"/>
          <p:cNvSpPr/>
          <p:nvPr/>
        </p:nvSpPr>
        <p:spPr>
          <a:xfrm>
            <a:off x="8183880" y="1810512"/>
            <a:ext cx="3200400" cy="457200"/>
          </a:xfrm>
          <a:prstGeom prst="rect">
            <a:avLst/>
          </a:prstGeom>
          <a:noFill/>
          <a:ln/>
        </p:spPr>
        <p:txBody>
          <a:bodyPr wrap="square" rtlCol="0" anchor="ctr"/>
          <a:lstStyle/>
          <a:p>
            <a:pPr marL="0" indent="0">
              <a:buNone/>
            </a:pPr>
            <a:r>
              <a:rPr lang="en-US" sz="1800" b="1" dirty="0">
                <a:solidFill>
                  <a:srgbClr val="1E2761"/>
                </a:solidFill>
                <a:latin typeface="Cambria" pitchFamily="34" charset="0"/>
                <a:ea typeface="Cambria" pitchFamily="34" charset="-122"/>
                <a:cs typeface="Cambria" pitchFamily="34" charset="-120"/>
              </a:rPr>
              <a:t>Why It Matters</a:t>
            </a:r>
            <a:endParaRPr lang="en-US" sz="1800" dirty="0"/>
          </a:p>
        </p:txBody>
      </p:sp>
      <p:sp>
        <p:nvSpPr>
          <p:cNvPr id="9" name="Text 7"/>
          <p:cNvSpPr/>
          <p:nvPr/>
        </p:nvSpPr>
        <p:spPr>
          <a:xfrm>
            <a:off x="7406640" y="2651760"/>
            <a:ext cx="3840480" cy="822960"/>
          </a:xfrm>
          <a:prstGeom prst="rect">
            <a:avLst/>
          </a:prstGeom>
          <a:noFill/>
          <a:ln/>
        </p:spPr>
        <p:txBody>
          <a:bodyPr wrap="square" rtlCol="0" anchor="ctr"/>
          <a:lstStyle/>
          <a:p>
            <a:pPr marL="0" indent="0">
              <a:buNone/>
            </a:pPr>
            <a:r>
              <a:rPr lang="en-US" sz="4800" b="1" dirty="0">
                <a:solidFill>
                  <a:srgbClr val="E63946"/>
                </a:solidFill>
                <a:latin typeface="Cambria" pitchFamily="34" charset="0"/>
                <a:ea typeface="Cambria" pitchFamily="34" charset="-122"/>
                <a:cs typeface="Cambria" pitchFamily="34" charset="-120"/>
              </a:rPr>
              <a:t>68%</a:t>
            </a:r>
            <a:endParaRPr lang="en-US" sz="4800" dirty="0"/>
          </a:p>
        </p:txBody>
      </p:sp>
      <p:sp>
        <p:nvSpPr>
          <p:cNvPr id="10" name="Text 8"/>
          <p:cNvSpPr/>
          <p:nvPr/>
        </p:nvSpPr>
        <p:spPr>
          <a:xfrm>
            <a:off x="7406640" y="3429000"/>
            <a:ext cx="3840480" cy="914400"/>
          </a:xfrm>
          <a:prstGeom prst="rect">
            <a:avLst/>
          </a:prstGeom>
          <a:noFill/>
          <a:ln/>
        </p:spPr>
        <p:txBody>
          <a:bodyPr wrap="square" rtlCol="0" anchor="ctr"/>
          <a:lstStyle/>
          <a:p>
            <a:pPr marL="0" indent="0">
              <a:lnSpc>
                <a:spcPct val="120000"/>
              </a:lnSpc>
              <a:buNone/>
            </a:pPr>
            <a:r>
              <a:rPr lang="en-US" sz="1200" dirty="0">
                <a:solidFill>
                  <a:srgbClr val="1A1D2B"/>
                </a:solidFill>
                <a:latin typeface="Calibri" pitchFamily="34" charset="0"/>
                <a:ea typeface="Calibri" pitchFamily="34" charset="-122"/>
                <a:cs typeface="Calibri" pitchFamily="34" charset="-120"/>
              </a:rPr>
              <a:t>of breaches in 2025 involved a human </a:t>
            </a:r>
            <a:r>
              <a:rPr lang="en-US" sz="1200" dirty="0" smtClean="0">
                <a:solidFill>
                  <a:srgbClr val="1A1D2B"/>
                </a:solidFill>
                <a:latin typeface="Calibri" pitchFamily="34" charset="0"/>
                <a:ea typeface="Calibri" pitchFamily="34" charset="-122"/>
                <a:cs typeface="Calibri" pitchFamily="34" charset="-120"/>
              </a:rPr>
              <a:t>element, </a:t>
            </a:r>
            <a:r>
              <a:rPr lang="en-US" sz="1200" dirty="0">
                <a:solidFill>
                  <a:srgbClr val="1A1D2B"/>
                </a:solidFill>
                <a:latin typeface="Calibri" pitchFamily="34" charset="0"/>
                <a:ea typeface="Calibri" pitchFamily="34" charset="-122"/>
                <a:cs typeface="Calibri" pitchFamily="34" charset="-120"/>
              </a:rPr>
              <a:t>most often, a phishing email</a:t>
            </a:r>
            <a:r>
              <a:rPr lang="en-US" sz="1200" dirty="0" smtClean="0">
                <a:solidFill>
                  <a:srgbClr val="1A1D2B"/>
                </a:solidFill>
                <a:latin typeface="Calibri" pitchFamily="34" charset="0"/>
                <a:ea typeface="Calibri" pitchFamily="34" charset="-122"/>
                <a:cs typeface="Calibri" pitchFamily="34" charset="-120"/>
              </a:rPr>
              <a:t>. </a:t>
            </a:r>
            <a:endParaRPr lang="en-US" sz="1200" dirty="0">
              <a:solidFill>
                <a:srgbClr val="1A1D2B"/>
              </a:solidFill>
              <a:latin typeface="Calibri" pitchFamily="34" charset="0"/>
              <a:ea typeface="Calibri" pitchFamily="34" charset="-122"/>
              <a:cs typeface="Calibri" pitchFamily="34" charset="-120"/>
            </a:endParaRPr>
          </a:p>
          <a:p>
            <a:pPr marL="0" indent="0">
              <a:lnSpc>
                <a:spcPct val="120000"/>
              </a:lnSpc>
              <a:buNone/>
            </a:pPr>
            <a:endParaRPr lang="en-US" sz="1200" dirty="0" smtClean="0">
              <a:solidFill>
                <a:srgbClr val="1A1D2B"/>
              </a:solidFill>
              <a:latin typeface="Calibri" pitchFamily="34" charset="0"/>
              <a:cs typeface="Calibri" pitchFamily="34" charset="-120"/>
            </a:endParaRPr>
          </a:p>
          <a:p>
            <a:pPr marL="0" indent="0">
              <a:lnSpc>
                <a:spcPct val="120000"/>
              </a:lnSpc>
              <a:buNone/>
            </a:pPr>
            <a:r>
              <a:rPr lang="en-US" sz="1200" dirty="0" smtClean="0">
                <a:solidFill>
                  <a:srgbClr val="1A1D2B"/>
                </a:solidFill>
                <a:latin typeface="Calibri" pitchFamily="34" charset="0"/>
                <a:cs typeface="Calibri" pitchFamily="34" charset="-120"/>
              </a:rPr>
              <a:t>Source: Verizon 2025 Data Breach Investigations Report </a:t>
            </a:r>
            <a:endParaRPr lang="en-US" sz="1200" dirty="0"/>
          </a:p>
        </p:txBody>
      </p:sp>
      <p:sp>
        <p:nvSpPr>
          <p:cNvPr id="12" name="Text 10"/>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Phishing Comes in Many Forms</a:t>
            </a:r>
            <a:endParaRPr lang="en-US" sz="3200" dirty="0"/>
          </a:p>
        </p:txBody>
      </p:sp>
      <p:sp>
        <p:nvSpPr>
          <p:cNvPr id="3" name="Shape 1"/>
          <p:cNvSpPr/>
          <p:nvPr/>
        </p:nvSpPr>
        <p:spPr>
          <a:xfrm>
            <a:off x="548640" y="1417320"/>
            <a:ext cx="3566160" cy="2148840"/>
          </a:xfrm>
          <a:prstGeom prst="roundRect">
            <a:avLst>
              <a:gd name="adj" fmla="val 4255"/>
            </a:avLst>
          </a:prstGeom>
          <a:solidFill>
            <a:srgbClr val="FFFFFF"/>
          </a:solidFill>
          <a:ln/>
          <a:effectLst>
            <a:outerShdw blurRad="76200" dist="25400" dir="5400000" algn="bl" rotWithShape="0">
              <a:srgbClr val="888888">
                <a:alpha val="20000"/>
              </a:srgbClr>
            </a:outerShdw>
          </a:effectLst>
        </p:spPr>
      </p:sp>
      <p:sp>
        <p:nvSpPr>
          <p:cNvPr id="4" name="Shape 2"/>
          <p:cNvSpPr/>
          <p:nvPr/>
        </p:nvSpPr>
        <p:spPr>
          <a:xfrm>
            <a:off x="777240" y="1645920"/>
            <a:ext cx="502920" cy="502920"/>
          </a:xfrm>
          <a:prstGeom prst="ellipse">
            <a:avLst/>
          </a:prstGeom>
          <a:solidFill>
            <a:srgbClr val="1E2761"/>
          </a:solidFill>
          <a:ln/>
        </p:spPr>
      </p:sp>
      <p:sp>
        <p:nvSpPr>
          <p:cNvPr id="5" name="Text 3"/>
          <p:cNvSpPr/>
          <p:nvPr/>
        </p:nvSpPr>
        <p:spPr>
          <a:xfrm>
            <a:off x="777240" y="164592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6" name="Text 4"/>
          <p:cNvSpPr/>
          <p:nvPr/>
        </p:nvSpPr>
        <p:spPr>
          <a:xfrm>
            <a:off x="1417320" y="161848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Email Phishing</a:t>
            </a:r>
            <a:endParaRPr lang="en-US" sz="1500" dirty="0"/>
          </a:p>
        </p:txBody>
      </p:sp>
      <p:sp>
        <p:nvSpPr>
          <p:cNvPr id="7" name="Text 5"/>
          <p:cNvSpPr/>
          <p:nvPr/>
        </p:nvSpPr>
        <p:spPr>
          <a:xfrm>
            <a:off x="777240" y="228600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Mass-sent fake emails impersonating trusted brands or services.</a:t>
            </a:r>
            <a:endParaRPr lang="en-US" sz="1400" dirty="0"/>
          </a:p>
        </p:txBody>
      </p:sp>
      <p:sp>
        <p:nvSpPr>
          <p:cNvPr id="8" name="Shape 6"/>
          <p:cNvSpPr/>
          <p:nvPr/>
        </p:nvSpPr>
        <p:spPr>
          <a:xfrm>
            <a:off x="4343400" y="1417320"/>
            <a:ext cx="3566160" cy="2148840"/>
          </a:xfrm>
          <a:prstGeom prst="roundRect">
            <a:avLst>
              <a:gd name="adj" fmla="val 4255"/>
            </a:avLst>
          </a:prstGeom>
          <a:solidFill>
            <a:srgbClr val="FFFFFF"/>
          </a:solidFill>
          <a:ln/>
          <a:effectLst>
            <a:outerShdw blurRad="76200" dist="25400" dir="5400000" algn="bl" rotWithShape="0">
              <a:srgbClr val="888888">
                <a:alpha val="20000"/>
              </a:srgbClr>
            </a:outerShdw>
          </a:effectLst>
        </p:spPr>
      </p:sp>
      <p:sp>
        <p:nvSpPr>
          <p:cNvPr id="9" name="Shape 7"/>
          <p:cNvSpPr/>
          <p:nvPr/>
        </p:nvSpPr>
        <p:spPr>
          <a:xfrm>
            <a:off x="4572000" y="1645920"/>
            <a:ext cx="502920" cy="502920"/>
          </a:xfrm>
          <a:prstGeom prst="ellipse">
            <a:avLst/>
          </a:prstGeom>
          <a:solidFill>
            <a:srgbClr val="1E2761"/>
          </a:solidFill>
          <a:ln/>
        </p:spPr>
      </p:sp>
      <p:sp>
        <p:nvSpPr>
          <p:cNvPr id="10" name="Text 8"/>
          <p:cNvSpPr/>
          <p:nvPr/>
        </p:nvSpPr>
        <p:spPr>
          <a:xfrm>
            <a:off x="4572000" y="164592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11" name="Text 9"/>
          <p:cNvSpPr/>
          <p:nvPr/>
        </p:nvSpPr>
        <p:spPr>
          <a:xfrm>
            <a:off x="5212080" y="161848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Spear Phishing</a:t>
            </a:r>
            <a:endParaRPr lang="en-US" sz="1500" dirty="0"/>
          </a:p>
        </p:txBody>
      </p:sp>
      <p:sp>
        <p:nvSpPr>
          <p:cNvPr id="12" name="Text 10"/>
          <p:cNvSpPr/>
          <p:nvPr/>
        </p:nvSpPr>
        <p:spPr>
          <a:xfrm>
            <a:off x="4572000" y="228600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Targeted at a specific person using personal details </a:t>
            </a:r>
            <a:r>
              <a:rPr lang="en-US" sz="1400" dirty="0" smtClean="0">
                <a:solidFill>
                  <a:srgbClr val="1A1D2B"/>
                </a:solidFill>
                <a:latin typeface="Calibri" pitchFamily="34" charset="0"/>
                <a:ea typeface="Calibri" pitchFamily="34" charset="-122"/>
                <a:cs typeface="Calibri" pitchFamily="34" charset="-120"/>
              </a:rPr>
              <a:t>so it would</a:t>
            </a:r>
            <a:r>
              <a:rPr lang="en-US" sz="1400" dirty="0" smtClean="0">
                <a:solidFill>
                  <a:srgbClr val="1A1D2B"/>
                </a:solidFill>
                <a:latin typeface="Calibri" pitchFamily="34" charset="0"/>
                <a:ea typeface="Calibri" pitchFamily="34" charset="-122"/>
                <a:cs typeface="Calibri" pitchFamily="34" charset="-120"/>
              </a:rPr>
              <a:t> </a:t>
            </a:r>
            <a:r>
              <a:rPr lang="en-US" sz="1400" dirty="0">
                <a:solidFill>
                  <a:srgbClr val="1A1D2B"/>
                </a:solidFill>
                <a:latin typeface="Calibri" pitchFamily="34" charset="0"/>
                <a:ea typeface="Calibri" pitchFamily="34" charset="-122"/>
                <a:cs typeface="Calibri" pitchFamily="34" charset="-120"/>
              </a:rPr>
              <a:t>be convincing.</a:t>
            </a:r>
            <a:endParaRPr lang="en-US" sz="1400" dirty="0"/>
          </a:p>
        </p:txBody>
      </p:sp>
      <p:sp>
        <p:nvSpPr>
          <p:cNvPr id="13" name="Shape 11"/>
          <p:cNvSpPr/>
          <p:nvPr/>
        </p:nvSpPr>
        <p:spPr>
          <a:xfrm>
            <a:off x="8138160" y="1417320"/>
            <a:ext cx="3566160" cy="2148840"/>
          </a:xfrm>
          <a:prstGeom prst="roundRect">
            <a:avLst>
              <a:gd name="adj" fmla="val 4255"/>
            </a:avLst>
          </a:prstGeom>
          <a:solidFill>
            <a:srgbClr val="FFFFFF"/>
          </a:solidFill>
          <a:ln/>
          <a:effectLst>
            <a:outerShdw blurRad="76200" dist="25400" dir="5400000" algn="bl" rotWithShape="0">
              <a:srgbClr val="888888">
                <a:alpha val="20000"/>
              </a:srgbClr>
            </a:outerShdw>
          </a:effectLst>
        </p:spPr>
      </p:sp>
      <p:sp>
        <p:nvSpPr>
          <p:cNvPr id="14" name="Shape 12"/>
          <p:cNvSpPr/>
          <p:nvPr/>
        </p:nvSpPr>
        <p:spPr>
          <a:xfrm>
            <a:off x="8366760" y="1645920"/>
            <a:ext cx="502920" cy="502920"/>
          </a:xfrm>
          <a:prstGeom prst="ellipse">
            <a:avLst/>
          </a:prstGeom>
          <a:solidFill>
            <a:srgbClr val="1E2761"/>
          </a:solidFill>
          <a:ln/>
        </p:spPr>
      </p:sp>
      <p:sp>
        <p:nvSpPr>
          <p:cNvPr id="15" name="Text 13"/>
          <p:cNvSpPr/>
          <p:nvPr/>
        </p:nvSpPr>
        <p:spPr>
          <a:xfrm>
            <a:off x="8366760" y="164592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16" name="Text 14"/>
          <p:cNvSpPr/>
          <p:nvPr/>
        </p:nvSpPr>
        <p:spPr>
          <a:xfrm>
            <a:off x="9006840" y="161848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Whaling</a:t>
            </a:r>
            <a:endParaRPr lang="en-US" sz="1500" dirty="0"/>
          </a:p>
        </p:txBody>
      </p:sp>
      <p:sp>
        <p:nvSpPr>
          <p:cNvPr id="17" name="Text 15"/>
          <p:cNvSpPr/>
          <p:nvPr/>
        </p:nvSpPr>
        <p:spPr>
          <a:xfrm>
            <a:off x="8366760" y="228600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Spear phishing aimed at executives or other high-value targets.</a:t>
            </a:r>
            <a:endParaRPr lang="en-US" sz="1400" dirty="0"/>
          </a:p>
        </p:txBody>
      </p:sp>
      <p:sp>
        <p:nvSpPr>
          <p:cNvPr id="18" name="Shape 16"/>
          <p:cNvSpPr/>
          <p:nvPr/>
        </p:nvSpPr>
        <p:spPr>
          <a:xfrm>
            <a:off x="548640" y="3794760"/>
            <a:ext cx="3566160" cy="2148840"/>
          </a:xfrm>
          <a:prstGeom prst="roundRect">
            <a:avLst>
              <a:gd name="adj" fmla="val 4255"/>
            </a:avLst>
          </a:prstGeom>
          <a:solidFill>
            <a:srgbClr val="FFFFFF"/>
          </a:solidFill>
          <a:ln/>
          <a:effectLst>
            <a:outerShdw blurRad="76200" dist="25400" dir="5400000" algn="bl" rotWithShape="0">
              <a:srgbClr val="888888">
                <a:alpha val="20000"/>
              </a:srgbClr>
            </a:outerShdw>
          </a:effectLst>
        </p:spPr>
      </p:sp>
      <p:sp>
        <p:nvSpPr>
          <p:cNvPr id="19" name="Shape 17"/>
          <p:cNvSpPr/>
          <p:nvPr/>
        </p:nvSpPr>
        <p:spPr>
          <a:xfrm>
            <a:off x="777240" y="4023360"/>
            <a:ext cx="502920" cy="502920"/>
          </a:xfrm>
          <a:prstGeom prst="ellipse">
            <a:avLst/>
          </a:prstGeom>
          <a:solidFill>
            <a:srgbClr val="1E2761"/>
          </a:solidFill>
          <a:ln/>
        </p:spPr>
      </p:sp>
      <p:sp>
        <p:nvSpPr>
          <p:cNvPr id="20" name="Text 18"/>
          <p:cNvSpPr/>
          <p:nvPr/>
        </p:nvSpPr>
        <p:spPr>
          <a:xfrm>
            <a:off x="777240" y="402336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21" name="Text 19"/>
          <p:cNvSpPr/>
          <p:nvPr/>
        </p:nvSpPr>
        <p:spPr>
          <a:xfrm>
            <a:off x="1417320" y="399592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Smishing</a:t>
            </a:r>
            <a:endParaRPr lang="en-US" sz="1500" dirty="0"/>
          </a:p>
        </p:txBody>
      </p:sp>
      <p:sp>
        <p:nvSpPr>
          <p:cNvPr id="22" name="Text 20"/>
          <p:cNvSpPr/>
          <p:nvPr/>
        </p:nvSpPr>
        <p:spPr>
          <a:xfrm>
            <a:off x="777240" y="466344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Phishing conducted via SMS or text message.</a:t>
            </a:r>
            <a:endParaRPr lang="en-US" sz="1400" dirty="0"/>
          </a:p>
        </p:txBody>
      </p:sp>
      <p:sp>
        <p:nvSpPr>
          <p:cNvPr id="23" name="Shape 21"/>
          <p:cNvSpPr/>
          <p:nvPr/>
        </p:nvSpPr>
        <p:spPr>
          <a:xfrm>
            <a:off x="4343400" y="3794760"/>
            <a:ext cx="3566160" cy="2148840"/>
          </a:xfrm>
          <a:prstGeom prst="roundRect">
            <a:avLst>
              <a:gd name="adj" fmla="val 4255"/>
            </a:avLst>
          </a:prstGeom>
          <a:solidFill>
            <a:srgbClr val="FFFFFF"/>
          </a:solidFill>
          <a:ln/>
          <a:effectLst>
            <a:outerShdw blurRad="76200" dist="25400" dir="5400000" algn="bl" rotWithShape="0">
              <a:srgbClr val="888888">
                <a:alpha val="20000"/>
              </a:srgbClr>
            </a:outerShdw>
          </a:effectLst>
        </p:spPr>
      </p:sp>
      <p:sp>
        <p:nvSpPr>
          <p:cNvPr id="24" name="Shape 22"/>
          <p:cNvSpPr/>
          <p:nvPr/>
        </p:nvSpPr>
        <p:spPr>
          <a:xfrm>
            <a:off x="4572000" y="4023360"/>
            <a:ext cx="502920" cy="502920"/>
          </a:xfrm>
          <a:prstGeom prst="ellipse">
            <a:avLst/>
          </a:prstGeom>
          <a:solidFill>
            <a:srgbClr val="1E2761"/>
          </a:solidFill>
          <a:ln/>
        </p:spPr>
      </p:sp>
      <p:sp>
        <p:nvSpPr>
          <p:cNvPr id="25" name="Text 23"/>
          <p:cNvSpPr/>
          <p:nvPr/>
        </p:nvSpPr>
        <p:spPr>
          <a:xfrm>
            <a:off x="4572000" y="402336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26" name="Text 24"/>
          <p:cNvSpPr/>
          <p:nvPr/>
        </p:nvSpPr>
        <p:spPr>
          <a:xfrm>
            <a:off x="5212080" y="399592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Vishing</a:t>
            </a:r>
            <a:endParaRPr lang="en-US" sz="1500" dirty="0"/>
          </a:p>
        </p:txBody>
      </p:sp>
      <p:sp>
        <p:nvSpPr>
          <p:cNvPr id="27" name="Text 25"/>
          <p:cNvSpPr/>
          <p:nvPr/>
        </p:nvSpPr>
        <p:spPr>
          <a:xfrm>
            <a:off x="4572000" y="466344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Phishing conducted via voice calls, often impersonating support staff.</a:t>
            </a:r>
            <a:endParaRPr lang="en-US" sz="1400" dirty="0"/>
          </a:p>
        </p:txBody>
      </p:sp>
      <p:sp>
        <p:nvSpPr>
          <p:cNvPr id="28" name="Shape 26"/>
          <p:cNvSpPr/>
          <p:nvPr/>
        </p:nvSpPr>
        <p:spPr>
          <a:xfrm>
            <a:off x="8138160" y="3794760"/>
            <a:ext cx="3566160" cy="2148840"/>
          </a:xfrm>
          <a:prstGeom prst="roundRect">
            <a:avLst>
              <a:gd name="adj" fmla="val 4255"/>
            </a:avLst>
          </a:prstGeom>
          <a:solidFill>
            <a:srgbClr val="FFFFFF"/>
          </a:solidFill>
          <a:ln/>
          <a:effectLst>
            <a:outerShdw blurRad="76200" dist="25400" dir="5400000" algn="bl" rotWithShape="0">
              <a:srgbClr val="888888">
                <a:alpha val="20000"/>
              </a:srgbClr>
            </a:outerShdw>
          </a:effectLst>
        </p:spPr>
      </p:sp>
      <p:sp>
        <p:nvSpPr>
          <p:cNvPr id="29" name="Shape 27"/>
          <p:cNvSpPr/>
          <p:nvPr/>
        </p:nvSpPr>
        <p:spPr>
          <a:xfrm>
            <a:off x="8366760" y="4023360"/>
            <a:ext cx="502920" cy="502920"/>
          </a:xfrm>
          <a:prstGeom prst="ellipse">
            <a:avLst/>
          </a:prstGeom>
          <a:solidFill>
            <a:srgbClr val="1E2761"/>
          </a:solidFill>
          <a:ln/>
        </p:spPr>
      </p:sp>
      <p:sp>
        <p:nvSpPr>
          <p:cNvPr id="30" name="Text 28"/>
          <p:cNvSpPr/>
          <p:nvPr/>
        </p:nvSpPr>
        <p:spPr>
          <a:xfrm>
            <a:off x="8366760" y="402336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31" name="Text 29"/>
          <p:cNvSpPr/>
          <p:nvPr/>
        </p:nvSpPr>
        <p:spPr>
          <a:xfrm>
            <a:off x="9006840" y="399592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Fake Websites</a:t>
            </a:r>
            <a:endParaRPr lang="en-US" sz="1500" dirty="0"/>
          </a:p>
        </p:txBody>
      </p:sp>
      <p:sp>
        <p:nvSpPr>
          <p:cNvPr id="32" name="Text 30"/>
          <p:cNvSpPr/>
          <p:nvPr/>
        </p:nvSpPr>
        <p:spPr>
          <a:xfrm>
            <a:off x="8366760" y="466344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Clone login pages built purely to capture credentials.</a:t>
            </a:r>
            <a:endParaRPr lang="en-US" sz="1400" dirty="0"/>
          </a:p>
        </p:txBody>
      </p:sp>
      <p:sp>
        <p:nvSpPr>
          <p:cNvPr id="33" name="Text 31"/>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Recognizing a Phishing Email</a:t>
            </a:r>
            <a:endParaRPr lang="en-US" sz="32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i="1" dirty="0">
                <a:solidFill>
                  <a:srgbClr val="5B6478"/>
                </a:solidFill>
                <a:latin typeface="Calibri" pitchFamily="34" charset="0"/>
                <a:ea typeface="Calibri" pitchFamily="34" charset="-122"/>
                <a:cs typeface="Calibri" pitchFamily="34" charset="-120"/>
              </a:rPr>
              <a:t>Seven signals worth checking before you click, reply, or download.</a:t>
            </a:r>
            <a:endParaRPr lang="en-US" sz="1400" dirty="0"/>
          </a:p>
        </p:txBody>
      </p:sp>
      <p:sp>
        <p:nvSpPr>
          <p:cNvPr id="4" name="Shape 2"/>
          <p:cNvSpPr/>
          <p:nvPr/>
        </p:nvSpPr>
        <p:spPr>
          <a:xfrm>
            <a:off x="548640" y="1691640"/>
            <a:ext cx="502920" cy="502920"/>
          </a:xfrm>
          <a:prstGeom prst="roundRect">
            <a:avLst>
              <a:gd name="adj" fmla="val 14545"/>
            </a:avLst>
          </a:prstGeom>
          <a:solidFill>
            <a:srgbClr val="E63946"/>
          </a:solidFill>
          <a:ln/>
        </p:spPr>
      </p:sp>
      <p:sp>
        <p:nvSpPr>
          <p:cNvPr id="5" name="Text 3"/>
          <p:cNvSpPr/>
          <p:nvPr/>
        </p:nvSpPr>
        <p:spPr>
          <a:xfrm>
            <a:off x="548640" y="169164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234440" y="1645920"/>
            <a:ext cx="4709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Sender address</a:t>
            </a:r>
            <a:endParaRPr lang="en-US" sz="1450" dirty="0"/>
          </a:p>
        </p:txBody>
      </p:sp>
      <p:sp>
        <p:nvSpPr>
          <p:cNvPr id="7" name="Text 5"/>
          <p:cNvSpPr/>
          <p:nvPr/>
        </p:nvSpPr>
        <p:spPr>
          <a:xfrm>
            <a:off x="1234440" y="2011680"/>
            <a:ext cx="4709160" cy="86868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Display name can </a:t>
            </a:r>
            <a:r>
              <a:rPr lang="en-US" sz="1400" dirty="0" smtClean="0">
                <a:solidFill>
                  <a:srgbClr val="1A1D2B"/>
                </a:solidFill>
                <a:latin typeface="Calibri" pitchFamily="34" charset="0"/>
                <a:ea typeface="Calibri" pitchFamily="34" charset="-122"/>
                <a:cs typeface="Calibri" pitchFamily="34" charset="-120"/>
              </a:rPr>
              <a:t>lie, it is important to </a:t>
            </a:r>
            <a:r>
              <a:rPr lang="en-US" sz="1400" dirty="0">
                <a:solidFill>
                  <a:srgbClr val="1A1D2B"/>
                </a:solidFill>
                <a:latin typeface="Calibri" pitchFamily="34" charset="0"/>
                <a:ea typeface="Calibri" pitchFamily="34" charset="-122"/>
                <a:cs typeface="Calibri" pitchFamily="34" charset="-120"/>
              </a:rPr>
              <a:t>check the actual domain behind it (micros0ft.com, not microsoft.com).</a:t>
            </a:r>
            <a:endParaRPr lang="en-US" sz="1400" dirty="0"/>
          </a:p>
        </p:txBody>
      </p:sp>
      <p:sp>
        <p:nvSpPr>
          <p:cNvPr id="8" name="Shape 6"/>
          <p:cNvSpPr/>
          <p:nvPr/>
        </p:nvSpPr>
        <p:spPr>
          <a:xfrm>
            <a:off x="6263640" y="1691640"/>
            <a:ext cx="502920" cy="502920"/>
          </a:xfrm>
          <a:prstGeom prst="roundRect">
            <a:avLst>
              <a:gd name="adj" fmla="val 14545"/>
            </a:avLst>
          </a:prstGeom>
          <a:solidFill>
            <a:srgbClr val="E63946"/>
          </a:solidFill>
          <a:ln/>
        </p:spPr>
      </p:sp>
      <p:sp>
        <p:nvSpPr>
          <p:cNvPr id="9" name="Text 7"/>
          <p:cNvSpPr/>
          <p:nvPr/>
        </p:nvSpPr>
        <p:spPr>
          <a:xfrm>
            <a:off x="6263640" y="169164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6949440" y="1645920"/>
            <a:ext cx="4709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Urgency &amp; fear</a:t>
            </a:r>
            <a:endParaRPr lang="en-US" sz="1450" dirty="0"/>
          </a:p>
        </p:txBody>
      </p:sp>
      <p:sp>
        <p:nvSpPr>
          <p:cNvPr id="11" name="Text 9"/>
          <p:cNvSpPr/>
          <p:nvPr/>
        </p:nvSpPr>
        <p:spPr>
          <a:xfrm>
            <a:off x="6949440" y="2011680"/>
            <a:ext cx="4709160" cy="86868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“Your account will be suspended in 24 hours” is designed to make you act before you think.</a:t>
            </a:r>
            <a:endParaRPr lang="en-US" sz="1400" dirty="0"/>
          </a:p>
        </p:txBody>
      </p:sp>
      <p:sp>
        <p:nvSpPr>
          <p:cNvPr id="12" name="Shape 10"/>
          <p:cNvSpPr/>
          <p:nvPr/>
        </p:nvSpPr>
        <p:spPr>
          <a:xfrm>
            <a:off x="548640" y="3154680"/>
            <a:ext cx="502920" cy="502920"/>
          </a:xfrm>
          <a:prstGeom prst="roundRect">
            <a:avLst>
              <a:gd name="adj" fmla="val 14545"/>
            </a:avLst>
          </a:prstGeom>
          <a:solidFill>
            <a:srgbClr val="E63946"/>
          </a:solidFill>
          <a:ln/>
        </p:spPr>
      </p:sp>
      <p:sp>
        <p:nvSpPr>
          <p:cNvPr id="13" name="Text 11"/>
          <p:cNvSpPr/>
          <p:nvPr/>
        </p:nvSpPr>
        <p:spPr>
          <a:xfrm>
            <a:off x="548640" y="315468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234440" y="3108960"/>
            <a:ext cx="4709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Generic greeting</a:t>
            </a:r>
            <a:endParaRPr lang="en-US" sz="1450" dirty="0"/>
          </a:p>
        </p:txBody>
      </p:sp>
      <p:sp>
        <p:nvSpPr>
          <p:cNvPr id="15" name="Text 13"/>
          <p:cNvSpPr/>
          <p:nvPr/>
        </p:nvSpPr>
        <p:spPr>
          <a:xfrm>
            <a:off x="1234440" y="3474720"/>
            <a:ext cx="4709160" cy="86868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“Dear Customer” instead of your real </a:t>
            </a:r>
            <a:r>
              <a:rPr lang="en-US" sz="1400" dirty="0" smtClean="0">
                <a:solidFill>
                  <a:srgbClr val="1A1D2B"/>
                </a:solidFill>
                <a:latin typeface="Calibri" pitchFamily="34" charset="0"/>
                <a:ea typeface="Calibri" pitchFamily="34" charset="-122"/>
                <a:cs typeface="Calibri" pitchFamily="34" charset="-120"/>
              </a:rPr>
              <a:t>name, although </a:t>
            </a:r>
            <a:r>
              <a:rPr lang="en-US" sz="1400" dirty="0">
                <a:solidFill>
                  <a:srgbClr val="1A1D2B"/>
                </a:solidFill>
                <a:latin typeface="Calibri" pitchFamily="34" charset="0"/>
                <a:ea typeface="Calibri" pitchFamily="34" charset="-122"/>
                <a:cs typeface="Calibri" pitchFamily="34" charset="-120"/>
              </a:rPr>
              <a:t>targeted attacks can fake this too.</a:t>
            </a:r>
            <a:endParaRPr lang="en-US" sz="1400" dirty="0"/>
          </a:p>
        </p:txBody>
      </p:sp>
      <p:sp>
        <p:nvSpPr>
          <p:cNvPr id="16" name="Shape 14"/>
          <p:cNvSpPr/>
          <p:nvPr/>
        </p:nvSpPr>
        <p:spPr>
          <a:xfrm>
            <a:off x="6263640" y="3154680"/>
            <a:ext cx="502920" cy="502920"/>
          </a:xfrm>
          <a:prstGeom prst="roundRect">
            <a:avLst>
              <a:gd name="adj" fmla="val 14545"/>
            </a:avLst>
          </a:prstGeom>
          <a:solidFill>
            <a:srgbClr val="E63946"/>
          </a:solidFill>
          <a:ln/>
        </p:spPr>
      </p:sp>
      <p:sp>
        <p:nvSpPr>
          <p:cNvPr id="17" name="Text 15"/>
          <p:cNvSpPr/>
          <p:nvPr/>
        </p:nvSpPr>
        <p:spPr>
          <a:xfrm>
            <a:off x="6263640" y="315468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6949440" y="3108960"/>
            <a:ext cx="4709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Suspicious links</a:t>
            </a:r>
            <a:endParaRPr lang="en-US" sz="1450" dirty="0"/>
          </a:p>
        </p:txBody>
      </p:sp>
      <p:sp>
        <p:nvSpPr>
          <p:cNvPr id="19" name="Text 17"/>
          <p:cNvSpPr/>
          <p:nvPr/>
        </p:nvSpPr>
        <p:spPr>
          <a:xfrm>
            <a:off x="6949440" y="3474720"/>
            <a:ext cx="4709160" cy="86868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Hover before </a:t>
            </a:r>
            <a:r>
              <a:rPr lang="en-US" sz="1400" dirty="0" smtClean="0">
                <a:solidFill>
                  <a:srgbClr val="1A1D2B"/>
                </a:solidFill>
                <a:latin typeface="Calibri" pitchFamily="34" charset="0"/>
                <a:ea typeface="Calibri" pitchFamily="34" charset="-122"/>
                <a:cs typeface="Calibri" pitchFamily="34" charset="-120"/>
              </a:rPr>
              <a:t>clicking, because </a:t>
            </a:r>
            <a:r>
              <a:rPr lang="en-US" sz="1400" dirty="0">
                <a:solidFill>
                  <a:srgbClr val="1A1D2B"/>
                </a:solidFill>
                <a:latin typeface="Calibri" pitchFamily="34" charset="0"/>
                <a:ea typeface="Calibri" pitchFamily="34" charset="-122"/>
                <a:cs typeface="Calibri" pitchFamily="34" charset="-120"/>
              </a:rPr>
              <a:t>the visible text can hide a completely different destination.</a:t>
            </a:r>
            <a:endParaRPr lang="en-US" sz="1400" dirty="0"/>
          </a:p>
        </p:txBody>
      </p:sp>
      <p:sp>
        <p:nvSpPr>
          <p:cNvPr id="20" name="Shape 18"/>
          <p:cNvSpPr/>
          <p:nvPr/>
        </p:nvSpPr>
        <p:spPr>
          <a:xfrm>
            <a:off x="548640" y="4617720"/>
            <a:ext cx="502920" cy="502920"/>
          </a:xfrm>
          <a:prstGeom prst="roundRect">
            <a:avLst>
              <a:gd name="adj" fmla="val 14545"/>
            </a:avLst>
          </a:prstGeom>
          <a:solidFill>
            <a:srgbClr val="E63946"/>
          </a:solidFill>
          <a:ln/>
        </p:spPr>
      </p:sp>
      <p:sp>
        <p:nvSpPr>
          <p:cNvPr id="21" name="Text 19"/>
          <p:cNvSpPr/>
          <p:nvPr/>
        </p:nvSpPr>
        <p:spPr>
          <a:xfrm>
            <a:off x="548640" y="46177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234440" y="4572000"/>
            <a:ext cx="4709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Unexpected attachments</a:t>
            </a:r>
            <a:endParaRPr lang="en-US" sz="1450" dirty="0"/>
          </a:p>
        </p:txBody>
      </p:sp>
      <p:sp>
        <p:nvSpPr>
          <p:cNvPr id="23" name="Text 21"/>
          <p:cNvSpPr/>
          <p:nvPr/>
        </p:nvSpPr>
        <p:spPr>
          <a:xfrm>
            <a:off x="1234440" y="4937760"/>
            <a:ext cx="4709160" cy="86868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Especially files asking you to “enable macros” or “enable content.”</a:t>
            </a:r>
            <a:endParaRPr lang="en-US" sz="1400" dirty="0"/>
          </a:p>
        </p:txBody>
      </p:sp>
      <p:sp>
        <p:nvSpPr>
          <p:cNvPr id="24" name="Shape 22"/>
          <p:cNvSpPr/>
          <p:nvPr/>
        </p:nvSpPr>
        <p:spPr>
          <a:xfrm>
            <a:off x="6263640" y="4617720"/>
            <a:ext cx="502920" cy="502920"/>
          </a:xfrm>
          <a:prstGeom prst="roundRect">
            <a:avLst>
              <a:gd name="adj" fmla="val 14545"/>
            </a:avLst>
          </a:prstGeom>
          <a:solidFill>
            <a:srgbClr val="E63946"/>
          </a:solidFill>
          <a:ln/>
        </p:spPr>
      </p:sp>
      <p:sp>
        <p:nvSpPr>
          <p:cNvPr id="25" name="Text 23"/>
          <p:cNvSpPr/>
          <p:nvPr/>
        </p:nvSpPr>
        <p:spPr>
          <a:xfrm>
            <a:off x="6263640" y="461772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26" name="Text 24"/>
          <p:cNvSpPr/>
          <p:nvPr/>
        </p:nvSpPr>
        <p:spPr>
          <a:xfrm>
            <a:off x="6949440" y="4572000"/>
            <a:ext cx="4709160" cy="365760"/>
          </a:xfrm>
          <a:prstGeom prst="rect">
            <a:avLst/>
          </a:prstGeom>
          <a:noFill/>
          <a:ln/>
        </p:spPr>
        <p:txBody>
          <a:bodyPr wrap="square" rtlCol="0" anchor="ctr"/>
          <a:lstStyle/>
          <a:p>
            <a:pPr marL="0" indent="0">
              <a:buNone/>
            </a:pPr>
            <a:r>
              <a:rPr lang="en-US" sz="1450" b="1" dirty="0">
                <a:solidFill>
                  <a:srgbClr val="1E2761"/>
                </a:solidFill>
                <a:latin typeface="Cambria" pitchFamily="34" charset="0"/>
                <a:ea typeface="Cambria" pitchFamily="34" charset="-122"/>
                <a:cs typeface="Cambria" pitchFamily="34" charset="-120"/>
              </a:rPr>
              <a:t>Requests for sensitive data</a:t>
            </a:r>
            <a:endParaRPr lang="en-US" sz="1450" dirty="0"/>
          </a:p>
        </p:txBody>
      </p:sp>
      <p:sp>
        <p:nvSpPr>
          <p:cNvPr id="27" name="Text 25"/>
          <p:cNvSpPr/>
          <p:nvPr/>
        </p:nvSpPr>
        <p:spPr>
          <a:xfrm>
            <a:off x="6949440" y="4937760"/>
            <a:ext cx="4709160" cy="86868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Legitimate companies almost never ask for passwords or full card numbers by email.</a:t>
            </a:r>
            <a:endParaRPr lang="en-US" sz="1400" dirty="0"/>
          </a:p>
        </p:txBody>
      </p:sp>
      <p:sp>
        <p:nvSpPr>
          <p:cNvPr id="28" name="Text 26"/>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29" name="Text 2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C"/>
        </a:solidFill>
        <a:effectLst/>
      </p:bgPr>
    </p:bg>
    <p:spTree>
      <p:nvGrpSpPr>
        <p:cNvPr id="1" name=""/>
        <p:cNvGrpSpPr/>
        <p:nvPr/>
      </p:nvGrpSpPr>
      <p:grpSpPr>
        <a:xfrm>
          <a:off x="0" y="0"/>
          <a:ext cx="0" cy="0"/>
          <a:chOff x="0" y="0"/>
          <a:chExt cx="0" cy="0"/>
        </a:xfrm>
      </p:grpSpPr>
      <p:sp>
        <p:nvSpPr>
          <p:cNvPr id="2" name="Text 0"/>
          <p:cNvSpPr/>
          <p:nvPr/>
        </p:nvSpPr>
        <p:spPr>
          <a:xfrm>
            <a:off x="548640" y="419493"/>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Anatomy of a Phishing Email</a:t>
            </a:r>
            <a:endParaRPr lang="en-US" sz="3200" dirty="0"/>
          </a:p>
        </p:txBody>
      </p:sp>
      <p:sp>
        <p:nvSpPr>
          <p:cNvPr id="3" name="Shape 1"/>
          <p:cNvSpPr/>
          <p:nvPr/>
        </p:nvSpPr>
        <p:spPr>
          <a:xfrm>
            <a:off x="548640" y="1371600"/>
            <a:ext cx="6949440" cy="4846320"/>
          </a:xfrm>
          <a:prstGeom prst="roundRect">
            <a:avLst>
              <a:gd name="adj" fmla="val 1509"/>
            </a:avLst>
          </a:prstGeom>
          <a:solidFill>
            <a:srgbClr val="FFFFFF"/>
          </a:solidFill>
          <a:ln w="12700">
            <a:solidFill>
              <a:srgbClr val="D9DCE6"/>
            </a:solidFill>
            <a:prstDash val="solid"/>
          </a:ln>
          <a:effectLst>
            <a:outerShdw blurRad="76200" dist="25400" dir="5400000" algn="bl" rotWithShape="0">
              <a:srgbClr val="888888">
                <a:alpha val="20000"/>
              </a:srgbClr>
            </a:outerShdw>
          </a:effectLst>
        </p:spPr>
      </p:sp>
      <p:sp>
        <p:nvSpPr>
          <p:cNvPr id="4" name="Shape 2"/>
          <p:cNvSpPr/>
          <p:nvPr/>
        </p:nvSpPr>
        <p:spPr>
          <a:xfrm>
            <a:off x="548640" y="1371600"/>
            <a:ext cx="6949440" cy="457200"/>
          </a:xfrm>
          <a:prstGeom prst="rect">
            <a:avLst/>
          </a:prstGeom>
          <a:solidFill>
            <a:srgbClr val="141B4D"/>
          </a:solidFill>
          <a:ln/>
        </p:spPr>
      </p:sp>
      <p:sp>
        <p:nvSpPr>
          <p:cNvPr id="5" name="Text 3"/>
          <p:cNvSpPr/>
          <p:nvPr/>
        </p:nvSpPr>
        <p:spPr>
          <a:xfrm>
            <a:off x="731520" y="1371600"/>
            <a:ext cx="3657600" cy="45720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New Message</a:t>
            </a:r>
            <a:endParaRPr lang="en-US" sz="1200" dirty="0"/>
          </a:p>
        </p:txBody>
      </p:sp>
      <p:sp>
        <p:nvSpPr>
          <p:cNvPr id="6" name="Text 4"/>
          <p:cNvSpPr/>
          <p:nvPr/>
        </p:nvSpPr>
        <p:spPr>
          <a:xfrm>
            <a:off x="777240" y="2011680"/>
            <a:ext cx="914400" cy="274320"/>
          </a:xfrm>
          <a:prstGeom prst="rect">
            <a:avLst/>
          </a:prstGeom>
          <a:noFill/>
          <a:ln/>
        </p:spPr>
        <p:txBody>
          <a:bodyPr wrap="square" rtlCol="0" anchor="ctr"/>
          <a:lstStyle/>
          <a:p>
            <a:pPr marL="0" indent="0">
              <a:buNone/>
            </a:pPr>
            <a:r>
              <a:rPr lang="en-US" sz="1100" b="1" dirty="0">
                <a:solidFill>
                  <a:srgbClr val="5B6478"/>
                </a:solidFill>
                <a:latin typeface="Calibri" pitchFamily="34" charset="0"/>
                <a:ea typeface="Calibri" pitchFamily="34" charset="-122"/>
                <a:cs typeface="Calibri" pitchFamily="34" charset="-120"/>
              </a:rPr>
              <a:t>From:</a:t>
            </a:r>
            <a:endParaRPr lang="en-US" sz="1100" dirty="0"/>
          </a:p>
        </p:txBody>
      </p:sp>
      <p:sp>
        <p:nvSpPr>
          <p:cNvPr id="7" name="Text 5"/>
          <p:cNvSpPr/>
          <p:nvPr/>
        </p:nvSpPr>
        <p:spPr>
          <a:xfrm>
            <a:off x="1645920" y="2011680"/>
            <a:ext cx="5577840" cy="274320"/>
          </a:xfrm>
          <a:prstGeom prst="rect">
            <a:avLst/>
          </a:prstGeom>
          <a:noFill/>
          <a:ln/>
        </p:spPr>
        <p:txBody>
          <a:bodyPr wrap="square" rtlCol="0" anchor="ctr"/>
          <a:lstStyle/>
          <a:p>
            <a:pPr marL="0" indent="0">
              <a:buNone/>
            </a:pPr>
            <a:r>
              <a:rPr lang="en-US" sz="1100" dirty="0">
                <a:solidFill>
                  <a:srgbClr val="E63946"/>
                </a:solidFill>
                <a:latin typeface="Courier New" pitchFamily="34" charset="0"/>
                <a:ea typeface="Courier New" pitchFamily="34" charset="-122"/>
                <a:cs typeface="Courier New" pitchFamily="34" charset="-120"/>
              </a:rPr>
              <a:t>IT Support &lt;admin@micros0ft-security.net&gt;</a:t>
            </a:r>
            <a:endParaRPr lang="en-US" sz="1100" dirty="0"/>
          </a:p>
        </p:txBody>
      </p:sp>
      <p:sp>
        <p:nvSpPr>
          <p:cNvPr id="8" name="Text 6"/>
          <p:cNvSpPr/>
          <p:nvPr/>
        </p:nvSpPr>
        <p:spPr>
          <a:xfrm>
            <a:off x="777240" y="2377440"/>
            <a:ext cx="914400" cy="274320"/>
          </a:xfrm>
          <a:prstGeom prst="rect">
            <a:avLst/>
          </a:prstGeom>
          <a:noFill/>
          <a:ln/>
        </p:spPr>
        <p:txBody>
          <a:bodyPr wrap="square" rtlCol="0" anchor="ctr"/>
          <a:lstStyle/>
          <a:p>
            <a:pPr marL="0" indent="0">
              <a:buNone/>
            </a:pPr>
            <a:r>
              <a:rPr lang="en-US" sz="1100" b="1" dirty="0">
                <a:solidFill>
                  <a:srgbClr val="5B6478"/>
                </a:solidFill>
                <a:latin typeface="Calibri" pitchFamily="34" charset="0"/>
                <a:ea typeface="Calibri" pitchFamily="34" charset="-122"/>
                <a:cs typeface="Calibri" pitchFamily="34" charset="-120"/>
              </a:rPr>
              <a:t>Subject:</a:t>
            </a:r>
            <a:endParaRPr lang="en-US" sz="1100" dirty="0"/>
          </a:p>
        </p:txBody>
      </p:sp>
      <p:sp>
        <p:nvSpPr>
          <p:cNvPr id="9" name="Text 7"/>
          <p:cNvSpPr/>
          <p:nvPr/>
        </p:nvSpPr>
        <p:spPr>
          <a:xfrm>
            <a:off x="1645920" y="2377440"/>
            <a:ext cx="5577840" cy="274320"/>
          </a:xfrm>
          <a:prstGeom prst="rect">
            <a:avLst/>
          </a:prstGeom>
          <a:noFill/>
          <a:ln/>
        </p:spPr>
        <p:txBody>
          <a:bodyPr wrap="square" rtlCol="0" anchor="ctr"/>
          <a:lstStyle/>
          <a:p>
            <a:pPr marL="0" indent="0">
              <a:buNone/>
            </a:pPr>
            <a:r>
              <a:rPr lang="en-US" sz="1100" b="1" dirty="0">
                <a:solidFill>
                  <a:srgbClr val="1A1D2B"/>
                </a:solidFill>
                <a:latin typeface="Calibri" pitchFamily="34" charset="0"/>
                <a:ea typeface="Calibri" pitchFamily="34" charset="-122"/>
                <a:cs typeface="Calibri" pitchFamily="34" charset="-120"/>
              </a:rPr>
              <a:t>URGENT: Your account will be suspended in 24 hours</a:t>
            </a:r>
            <a:endParaRPr lang="en-US" sz="1100" dirty="0"/>
          </a:p>
        </p:txBody>
      </p:sp>
      <p:sp>
        <p:nvSpPr>
          <p:cNvPr id="10" name="Shape 8"/>
          <p:cNvSpPr/>
          <p:nvPr/>
        </p:nvSpPr>
        <p:spPr>
          <a:xfrm>
            <a:off x="777240" y="2788920"/>
            <a:ext cx="6492240" cy="0"/>
          </a:xfrm>
          <a:prstGeom prst="line">
            <a:avLst/>
          </a:prstGeom>
          <a:noFill/>
          <a:ln w="12700">
            <a:solidFill>
              <a:srgbClr val="D9DCE6"/>
            </a:solidFill>
            <a:prstDash val="solid"/>
          </a:ln>
        </p:spPr>
      </p:sp>
      <p:sp>
        <p:nvSpPr>
          <p:cNvPr id="11" name="Text 9"/>
          <p:cNvSpPr/>
          <p:nvPr/>
        </p:nvSpPr>
        <p:spPr>
          <a:xfrm>
            <a:off x="777240" y="2971800"/>
            <a:ext cx="6492240" cy="2377440"/>
          </a:xfrm>
          <a:prstGeom prst="rect">
            <a:avLst/>
          </a:prstGeom>
          <a:noFill/>
          <a:ln/>
        </p:spPr>
        <p:txBody>
          <a:bodyPr wrap="square" rtlCol="0" anchor="t"/>
          <a:lstStyle/>
          <a:p>
            <a:pPr marL="0" indent="0">
              <a:lnSpc>
                <a:spcPct val="130000"/>
              </a:lnSpc>
              <a:buNone/>
            </a:pPr>
            <a:r>
              <a:rPr lang="en-US" sz="1200" dirty="0">
                <a:solidFill>
                  <a:srgbClr val="1A1D2B"/>
                </a:solidFill>
                <a:latin typeface="Calibri" pitchFamily="34" charset="0"/>
                <a:ea typeface="Calibri" pitchFamily="34" charset="-122"/>
                <a:cs typeface="Calibri" pitchFamily="34" charset="-120"/>
              </a:rPr>
              <a:t>Dear Customer,</a:t>
            </a:r>
            <a:endParaRPr lang="en-US" sz="1200" dirty="0"/>
          </a:p>
          <a:p>
            <a:pPr marL="0" indent="0">
              <a:lnSpc>
                <a:spcPct val="130000"/>
              </a:lnSpc>
              <a:buNone/>
            </a:pPr>
            <a:endParaRPr lang="en-US" sz="1200" dirty="0"/>
          </a:p>
          <a:p>
            <a:pPr marL="0" indent="0">
              <a:lnSpc>
                <a:spcPct val="130000"/>
              </a:lnSpc>
              <a:buNone/>
            </a:pPr>
            <a:r>
              <a:rPr lang="en-US" sz="1200" dirty="0">
                <a:solidFill>
                  <a:srgbClr val="1A1D2B"/>
                </a:solidFill>
                <a:latin typeface="Calibri" pitchFamily="34" charset="0"/>
                <a:ea typeface="Calibri" pitchFamily="34" charset="-122"/>
                <a:cs typeface="Calibri" pitchFamily="34" charset="-120"/>
              </a:rPr>
              <a:t>We detected unusual sign-in activity on your account. To avoid permanent suspension, verify your identity immediately by clicking the link below and entering your username and password.</a:t>
            </a:r>
            <a:endParaRPr lang="en-US" sz="1200" dirty="0"/>
          </a:p>
          <a:p>
            <a:pPr marL="0" indent="0">
              <a:lnSpc>
                <a:spcPct val="130000"/>
              </a:lnSpc>
              <a:buNone/>
            </a:pPr>
            <a:endParaRPr lang="en-US" sz="1200" dirty="0"/>
          </a:p>
          <a:p>
            <a:pPr marL="0" indent="0">
              <a:lnSpc>
                <a:spcPct val="130000"/>
              </a:lnSpc>
              <a:buNone/>
            </a:pPr>
            <a:r>
              <a:rPr lang="en-US" sz="1200" dirty="0">
                <a:solidFill>
                  <a:srgbClr val="1A1D2B"/>
                </a:solidFill>
                <a:latin typeface="Calibri" pitchFamily="34" charset="0"/>
                <a:ea typeface="Calibri" pitchFamily="34" charset="-122"/>
                <a:cs typeface="Calibri" pitchFamily="34" charset="-120"/>
              </a:rPr>
              <a:t>Verify My Account Now →</a:t>
            </a:r>
            <a:endParaRPr lang="en-US" sz="1200" dirty="0"/>
          </a:p>
          <a:p>
            <a:pPr marL="0" indent="0">
              <a:lnSpc>
                <a:spcPct val="130000"/>
              </a:lnSpc>
              <a:buNone/>
            </a:pPr>
            <a:endParaRPr lang="en-US" sz="1200" dirty="0"/>
          </a:p>
          <a:p>
            <a:pPr marL="0" indent="0">
              <a:lnSpc>
                <a:spcPct val="130000"/>
              </a:lnSpc>
              <a:buNone/>
            </a:pPr>
            <a:r>
              <a:rPr lang="en-US" sz="1200" dirty="0">
                <a:solidFill>
                  <a:srgbClr val="1A1D2B"/>
                </a:solidFill>
                <a:latin typeface="Calibri" pitchFamily="34" charset="0"/>
                <a:ea typeface="Calibri" pitchFamily="34" charset="-122"/>
                <a:cs typeface="Calibri" pitchFamily="34" charset="-120"/>
              </a:rPr>
              <a:t>Thank you,</a:t>
            </a:r>
            <a:endParaRPr lang="en-US" sz="1200" dirty="0"/>
          </a:p>
          <a:p>
            <a:pPr marL="0" indent="0">
              <a:lnSpc>
                <a:spcPct val="130000"/>
              </a:lnSpc>
              <a:buNone/>
            </a:pPr>
            <a:r>
              <a:rPr lang="en-US" sz="1200" dirty="0">
                <a:solidFill>
                  <a:srgbClr val="1A1D2B"/>
                </a:solidFill>
                <a:latin typeface="Calibri" pitchFamily="34" charset="0"/>
                <a:ea typeface="Calibri" pitchFamily="34" charset="-122"/>
                <a:cs typeface="Calibri" pitchFamily="34" charset="-120"/>
              </a:rPr>
              <a:t>Security Team</a:t>
            </a:r>
            <a:endParaRPr lang="en-US" sz="1200" dirty="0"/>
          </a:p>
        </p:txBody>
      </p:sp>
      <p:sp>
        <p:nvSpPr>
          <p:cNvPr id="12" name="Shape 10"/>
          <p:cNvSpPr/>
          <p:nvPr/>
        </p:nvSpPr>
        <p:spPr>
          <a:xfrm>
            <a:off x="777240" y="5577840"/>
            <a:ext cx="2377440" cy="457200"/>
          </a:xfrm>
          <a:prstGeom prst="roundRect">
            <a:avLst>
              <a:gd name="adj" fmla="val 16000"/>
            </a:avLst>
          </a:prstGeom>
          <a:solidFill>
            <a:srgbClr val="E63946"/>
          </a:solidFill>
          <a:ln/>
        </p:spPr>
      </p:sp>
      <p:sp>
        <p:nvSpPr>
          <p:cNvPr id="13" name="Text 11"/>
          <p:cNvSpPr/>
          <p:nvPr/>
        </p:nvSpPr>
        <p:spPr>
          <a:xfrm>
            <a:off x="777240" y="5577840"/>
            <a:ext cx="23774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 recruitment_plan.xls</a:t>
            </a:r>
            <a:endParaRPr lang="en-US" sz="1100" dirty="0"/>
          </a:p>
        </p:txBody>
      </p:sp>
      <p:sp>
        <p:nvSpPr>
          <p:cNvPr id="14" name="Shape 12"/>
          <p:cNvSpPr/>
          <p:nvPr/>
        </p:nvSpPr>
        <p:spPr>
          <a:xfrm>
            <a:off x="7818120" y="1965960"/>
            <a:ext cx="3794760" cy="411480"/>
          </a:xfrm>
          <a:prstGeom prst="roundRect">
            <a:avLst>
              <a:gd name="adj" fmla="val 13333"/>
            </a:avLst>
          </a:prstGeom>
          <a:solidFill>
            <a:srgbClr val="1E2761"/>
          </a:solidFill>
          <a:ln/>
        </p:spPr>
      </p:sp>
      <p:sp>
        <p:nvSpPr>
          <p:cNvPr id="15" name="Text 13"/>
          <p:cNvSpPr/>
          <p:nvPr/>
        </p:nvSpPr>
        <p:spPr>
          <a:xfrm>
            <a:off x="7955280" y="1965960"/>
            <a:ext cx="3566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Spoofed sender domain</a:t>
            </a:r>
            <a:endParaRPr lang="en-US" sz="1200" dirty="0"/>
          </a:p>
        </p:txBody>
      </p:sp>
      <p:sp>
        <p:nvSpPr>
          <p:cNvPr id="16" name="Shape 14"/>
          <p:cNvSpPr/>
          <p:nvPr/>
        </p:nvSpPr>
        <p:spPr>
          <a:xfrm>
            <a:off x="7818120" y="2331720"/>
            <a:ext cx="3794760" cy="411480"/>
          </a:xfrm>
          <a:prstGeom prst="roundRect">
            <a:avLst>
              <a:gd name="adj" fmla="val 13333"/>
            </a:avLst>
          </a:prstGeom>
          <a:solidFill>
            <a:srgbClr val="1E2761"/>
          </a:solidFill>
          <a:ln/>
        </p:spPr>
      </p:sp>
      <p:sp>
        <p:nvSpPr>
          <p:cNvPr id="17" name="Text 15"/>
          <p:cNvSpPr/>
          <p:nvPr/>
        </p:nvSpPr>
        <p:spPr>
          <a:xfrm>
            <a:off x="7955280" y="2331720"/>
            <a:ext cx="3566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Manufactured urgency</a:t>
            </a:r>
            <a:endParaRPr lang="en-US" sz="1200" dirty="0"/>
          </a:p>
        </p:txBody>
      </p:sp>
      <p:sp>
        <p:nvSpPr>
          <p:cNvPr id="18" name="Shape 16"/>
          <p:cNvSpPr/>
          <p:nvPr/>
        </p:nvSpPr>
        <p:spPr>
          <a:xfrm>
            <a:off x="7818120" y="3154680"/>
            <a:ext cx="3794760" cy="411480"/>
          </a:xfrm>
          <a:prstGeom prst="roundRect">
            <a:avLst>
              <a:gd name="adj" fmla="val 13333"/>
            </a:avLst>
          </a:prstGeom>
          <a:solidFill>
            <a:srgbClr val="1E2761"/>
          </a:solidFill>
          <a:ln/>
        </p:spPr>
      </p:sp>
      <p:sp>
        <p:nvSpPr>
          <p:cNvPr id="19" name="Text 17"/>
          <p:cNvSpPr/>
          <p:nvPr/>
        </p:nvSpPr>
        <p:spPr>
          <a:xfrm>
            <a:off x="7955280" y="3154680"/>
            <a:ext cx="3566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Generic greeting</a:t>
            </a:r>
            <a:endParaRPr lang="en-US" sz="1200" dirty="0"/>
          </a:p>
        </p:txBody>
      </p:sp>
      <p:sp>
        <p:nvSpPr>
          <p:cNvPr id="20" name="Shape 18"/>
          <p:cNvSpPr/>
          <p:nvPr/>
        </p:nvSpPr>
        <p:spPr>
          <a:xfrm>
            <a:off x="7818120" y="5623560"/>
            <a:ext cx="3794760" cy="411480"/>
          </a:xfrm>
          <a:prstGeom prst="roundRect">
            <a:avLst>
              <a:gd name="adj" fmla="val 13333"/>
            </a:avLst>
          </a:prstGeom>
          <a:solidFill>
            <a:srgbClr val="1E2761"/>
          </a:solidFill>
          <a:ln/>
        </p:spPr>
      </p:sp>
      <p:sp>
        <p:nvSpPr>
          <p:cNvPr id="21" name="Text 19"/>
          <p:cNvSpPr/>
          <p:nvPr/>
        </p:nvSpPr>
        <p:spPr>
          <a:xfrm>
            <a:off x="7955280" y="5623560"/>
            <a:ext cx="3566160" cy="41148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Suspicious attachment</a:t>
            </a:r>
            <a:endParaRPr lang="en-US" sz="1200" dirty="0"/>
          </a:p>
        </p:txBody>
      </p:sp>
      <p:sp>
        <p:nvSpPr>
          <p:cNvPr id="22" name="Text 20"/>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5</a:t>
            </a:r>
            <a:endParaRPr lang="en-US" sz="900" dirty="0"/>
          </a:p>
        </p:txBody>
      </p:sp>
      <p:sp>
        <p:nvSpPr>
          <p:cNvPr id="24" name="TextBox 23"/>
          <p:cNvSpPr txBox="1"/>
          <p:nvPr/>
        </p:nvSpPr>
        <p:spPr>
          <a:xfrm flipH="1">
            <a:off x="8369588" y="1345168"/>
            <a:ext cx="2933151" cy="369332"/>
          </a:xfrm>
          <a:prstGeom prst="rect">
            <a:avLst/>
          </a:prstGeom>
          <a:solidFill>
            <a:srgbClr val="002060"/>
          </a:solidFill>
        </p:spPr>
        <p:txBody>
          <a:bodyPr wrap="square" rtlCol="0">
            <a:spAutoFit/>
          </a:bodyPr>
          <a:lstStyle/>
          <a:p>
            <a:pPr algn="ctr"/>
            <a:r>
              <a:rPr lang="en-US" dirty="0">
                <a:solidFill>
                  <a:schemeClr val="bg1"/>
                </a:solidFill>
              </a:rPr>
              <a:t>Red Flags Here;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Recognizing a Fake Website</a:t>
            </a:r>
            <a:endParaRPr lang="en-US" sz="3200" dirty="0"/>
          </a:p>
        </p:txBody>
      </p:sp>
      <p:sp>
        <p:nvSpPr>
          <p:cNvPr id="3" name="Text 1"/>
          <p:cNvSpPr/>
          <p:nvPr/>
        </p:nvSpPr>
        <p:spPr>
          <a:xfrm>
            <a:off x="548640" y="1051560"/>
            <a:ext cx="9144000" cy="365760"/>
          </a:xfrm>
          <a:prstGeom prst="rect">
            <a:avLst/>
          </a:prstGeom>
          <a:noFill/>
          <a:ln/>
        </p:spPr>
        <p:txBody>
          <a:bodyPr wrap="square" rtlCol="0" anchor="ctr"/>
          <a:lstStyle/>
          <a:p>
            <a:pPr marL="0" indent="0">
              <a:buNone/>
            </a:pPr>
            <a:r>
              <a:rPr lang="en-US" sz="1400" i="1" dirty="0">
                <a:solidFill>
                  <a:srgbClr val="5B6478"/>
                </a:solidFill>
                <a:latin typeface="Calibri" pitchFamily="34" charset="0"/>
                <a:ea typeface="Calibri" pitchFamily="34" charset="-122"/>
                <a:cs typeface="Calibri" pitchFamily="34" charset="-120"/>
              </a:rPr>
              <a:t>The address bar is the single most reliable thing to check.</a:t>
            </a:r>
            <a:endParaRPr lang="en-US" sz="1400" dirty="0"/>
          </a:p>
        </p:txBody>
      </p:sp>
      <p:sp>
        <p:nvSpPr>
          <p:cNvPr id="4" name="Shape 2"/>
          <p:cNvSpPr/>
          <p:nvPr/>
        </p:nvSpPr>
        <p:spPr>
          <a:xfrm>
            <a:off x="548640" y="1828800"/>
            <a:ext cx="11064240" cy="822960"/>
          </a:xfrm>
          <a:prstGeom prst="roundRect">
            <a:avLst>
              <a:gd name="adj" fmla="val 16667"/>
            </a:avLst>
          </a:prstGeom>
          <a:solidFill>
            <a:srgbClr val="F7F8FC"/>
          </a:solidFill>
          <a:ln w="12700">
            <a:solidFill>
              <a:srgbClr val="D9DCE6"/>
            </a:solidFill>
            <a:prstDash val="solid"/>
          </a:ln>
        </p:spPr>
      </p:sp>
      <p:sp>
        <p:nvSpPr>
          <p:cNvPr id="5" name="Text 3"/>
          <p:cNvSpPr/>
          <p:nvPr/>
        </p:nvSpPr>
        <p:spPr>
          <a:xfrm>
            <a:off x="822960" y="1828800"/>
            <a:ext cx="10515600" cy="822960"/>
          </a:xfrm>
          <a:prstGeom prst="rect">
            <a:avLst/>
          </a:prstGeom>
          <a:noFill/>
          <a:ln/>
        </p:spPr>
        <p:txBody>
          <a:bodyPr wrap="square" rtlCol="0" anchor="ctr"/>
          <a:lstStyle/>
          <a:p>
            <a:pPr marL="0" indent="0">
              <a:buNone/>
            </a:pPr>
            <a:r>
              <a:rPr lang="en-US" sz="2200" dirty="0">
                <a:solidFill>
                  <a:srgbClr val="5B6478"/>
                </a:solidFill>
                <a:latin typeface="Courier New" pitchFamily="34" charset="0"/>
                <a:ea typeface="Courier New" pitchFamily="34" charset="-122"/>
                <a:cs typeface="Courier New" pitchFamily="34" charset="-120"/>
              </a:rPr>
              <a:t>https://</a:t>
            </a:r>
            <a:r>
              <a:rPr lang="en-US" sz="2200" b="1" dirty="0">
                <a:solidFill>
                  <a:srgbClr val="E63946"/>
                </a:solidFill>
                <a:latin typeface="Courier New" pitchFamily="34" charset="0"/>
                <a:ea typeface="Courier New" pitchFamily="34" charset="-122"/>
                <a:cs typeface="Courier New" pitchFamily="34" charset="-120"/>
              </a:rPr>
              <a:t>paypal.com.account-security-verify.xyz</a:t>
            </a:r>
            <a:r>
              <a:rPr lang="en-US" sz="2200" dirty="0">
                <a:solidFill>
                  <a:srgbClr val="5B6478"/>
                </a:solidFill>
                <a:latin typeface="Courier New" pitchFamily="34" charset="0"/>
                <a:ea typeface="Courier New" pitchFamily="34" charset="-122"/>
                <a:cs typeface="Courier New" pitchFamily="34" charset="-120"/>
              </a:rPr>
              <a:t>/login</a:t>
            </a:r>
            <a:endParaRPr lang="en-US" sz="2200" dirty="0"/>
          </a:p>
        </p:txBody>
      </p:sp>
      <p:sp>
        <p:nvSpPr>
          <p:cNvPr id="6" name="Shape 4"/>
          <p:cNvSpPr/>
          <p:nvPr/>
        </p:nvSpPr>
        <p:spPr>
          <a:xfrm>
            <a:off x="2834640" y="2788920"/>
            <a:ext cx="3291840" cy="365760"/>
          </a:xfrm>
          <a:prstGeom prst="roundRect">
            <a:avLst>
              <a:gd name="adj" fmla="val 15000"/>
            </a:avLst>
          </a:prstGeom>
          <a:solidFill>
            <a:srgbClr val="E63946"/>
          </a:solidFill>
          <a:ln/>
        </p:spPr>
      </p:sp>
      <p:sp>
        <p:nvSpPr>
          <p:cNvPr id="7" name="Text 5"/>
          <p:cNvSpPr/>
          <p:nvPr/>
        </p:nvSpPr>
        <p:spPr>
          <a:xfrm>
            <a:off x="2834640" y="2788920"/>
            <a:ext cx="32918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This looks trustworthy at a glance...</a:t>
            </a:r>
            <a:endParaRPr lang="en-US" sz="1100" dirty="0"/>
          </a:p>
        </p:txBody>
      </p:sp>
      <p:sp>
        <p:nvSpPr>
          <p:cNvPr id="8" name="Shape 6"/>
          <p:cNvSpPr/>
          <p:nvPr/>
        </p:nvSpPr>
        <p:spPr>
          <a:xfrm>
            <a:off x="3108960" y="3337560"/>
            <a:ext cx="5120640" cy="365760"/>
          </a:xfrm>
          <a:prstGeom prst="roundRect">
            <a:avLst>
              <a:gd name="adj" fmla="val 15000"/>
            </a:avLst>
          </a:prstGeom>
          <a:solidFill>
            <a:srgbClr val="1E2761"/>
          </a:solidFill>
          <a:ln/>
        </p:spPr>
      </p:sp>
      <p:sp>
        <p:nvSpPr>
          <p:cNvPr id="9" name="Text 7"/>
          <p:cNvSpPr/>
          <p:nvPr/>
        </p:nvSpPr>
        <p:spPr>
          <a:xfrm>
            <a:off x="3108960" y="3337560"/>
            <a:ext cx="51206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...but the REAL domain is account-security-verify.xyz</a:t>
            </a:r>
            <a:endParaRPr lang="en-US" sz="1100" dirty="0"/>
          </a:p>
        </p:txBody>
      </p:sp>
      <p:sp>
        <p:nvSpPr>
          <p:cNvPr id="10" name="Shape 8"/>
          <p:cNvSpPr/>
          <p:nvPr/>
        </p:nvSpPr>
        <p:spPr>
          <a:xfrm>
            <a:off x="548640" y="4023360"/>
            <a:ext cx="5394960" cy="2286000"/>
          </a:xfrm>
          <a:prstGeom prst="roundRect">
            <a:avLst>
              <a:gd name="adj" fmla="val 4000"/>
            </a:avLst>
          </a:prstGeom>
          <a:solidFill>
            <a:srgbClr val="F7F8FC"/>
          </a:solidFill>
          <a:ln/>
        </p:spPr>
      </p:sp>
      <p:sp>
        <p:nvSpPr>
          <p:cNvPr id="11" name="Shape 9"/>
          <p:cNvSpPr/>
          <p:nvPr/>
        </p:nvSpPr>
        <p:spPr>
          <a:xfrm>
            <a:off x="777240" y="4206240"/>
            <a:ext cx="457200" cy="457200"/>
          </a:xfrm>
          <a:prstGeom prst="ellipse">
            <a:avLst/>
          </a:prstGeom>
          <a:solidFill>
            <a:srgbClr val="1E2761"/>
          </a:solidFill>
          <a:ln/>
        </p:spPr>
      </p:sp>
      <p:sp>
        <p:nvSpPr>
          <p:cNvPr id="12" name="Text 10"/>
          <p:cNvSpPr/>
          <p:nvPr/>
        </p:nvSpPr>
        <p:spPr>
          <a:xfrm>
            <a:off x="777240" y="42062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1"/>
          <p:cNvSpPr/>
          <p:nvPr/>
        </p:nvSpPr>
        <p:spPr>
          <a:xfrm>
            <a:off x="1371600" y="4251960"/>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The Trick</a:t>
            </a:r>
            <a:endParaRPr lang="en-US" sz="1500" dirty="0"/>
          </a:p>
        </p:txBody>
      </p:sp>
      <p:sp>
        <p:nvSpPr>
          <p:cNvPr id="14" name="Text 12"/>
          <p:cNvSpPr/>
          <p:nvPr/>
        </p:nvSpPr>
        <p:spPr>
          <a:xfrm>
            <a:off x="777240" y="4709160"/>
            <a:ext cx="4937760" cy="1463040"/>
          </a:xfrm>
          <a:prstGeom prst="rect">
            <a:avLst/>
          </a:prstGeom>
          <a:noFill/>
          <a:ln/>
        </p:spPr>
        <p:txBody>
          <a:bodyPr wrap="square" rtlCol="0" anchor="t"/>
          <a:lstStyle/>
          <a:p>
            <a:pPr marL="0" indent="0">
              <a:lnSpc>
                <a:spcPct val="125000"/>
              </a:lnSpc>
              <a:buNone/>
            </a:pPr>
            <a:r>
              <a:rPr lang="en-US" sz="1250" dirty="0">
                <a:solidFill>
                  <a:srgbClr val="1A1D2B"/>
                </a:solidFill>
                <a:latin typeface="Calibri" pitchFamily="34" charset="0"/>
                <a:ea typeface="Calibri" pitchFamily="34" charset="-122"/>
                <a:cs typeface="Calibri" pitchFamily="34" charset="-120"/>
              </a:rPr>
              <a:t>“paypal.com” is just a subdomain </a:t>
            </a:r>
            <a:r>
              <a:rPr lang="en-US" sz="1250" dirty="0" smtClean="0">
                <a:solidFill>
                  <a:srgbClr val="1A1D2B"/>
                </a:solidFill>
                <a:latin typeface="Calibri" pitchFamily="34" charset="0"/>
                <a:ea typeface="Calibri" pitchFamily="34" charset="-122"/>
                <a:cs typeface="Calibri" pitchFamily="34" charset="-120"/>
              </a:rPr>
              <a:t>. </a:t>
            </a:r>
            <a:r>
              <a:rPr lang="en-US" sz="1250" dirty="0">
                <a:solidFill>
                  <a:srgbClr val="1A1D2B"/>
                </a:solidFill>
                <a:latin typeface="Calibri" pitchFamily="34" charset="0"/>
                <a:ea typeface="Calibri" pitchFamily="34" charset="-122"/>
                <a:cs typeface="Calibri" pitchFamily="34" charset="-120"/>
              </a:rPr>
              <a:t>E</a:t>
            </a:r>
            <a:r>
              <a:rPr lang="en-US" sz="1250" dirty="0" smtClean="0">
                <a:solidFill>
                  <a:srgbClr val="1A1D2B"/>
                </a:solidFill>
                <a:latin typeface="Calibri" pitchFamily="34" charset="0"/>
                <a:ea typeface="Calibri" pitchFamily="34" charset="-122"/>
                <a:cs typeface="Calibri" pitchFamily="34" charset="-120"/>
              </a:rPr>
              <a:t>verything </a:t>
            </a:r>
            <a:r>
              <a:rPr lang="en-US" sz="1250" dirty="0">
                <a:solidFill>
                  <a:srgbClr val="1A1D2B"/>
                </a:solidFill>
                <a:latin typeface="Calibri" pitchFamily="34" charset="0"/>
                <a:ea typeface="Calibri" pitchFamily="34" charset="-122"/>
                <a:cs typeface="Calibri" pitchFamily="34" charset="-120"/>
              </a:rPr>
              <a:t>before the FIRST single slash, read right to left, reveals the real domain: account-security-verify.xyz</a:t>
            </a:r>
            <a:endParaRPr lang="en-US" sz="1250" dirty="0"/>
          </a:p>
        </p:txBody>
      </p:sp>
      <p:sp>
        <p:nvSpPr>
          <p:cNvPr id="15" name="Shape 13"/>
          <p:cNvSpPr/>
          <p:nvPr/>
        </p:nvSpPr>
        <p:spPr>
          <a:xfrm>
            <a:off x="6217920" y="4023360"/>
            <a:ext cx="5394960" cy="2286000"/>
          </a:xfrm>
          <a:prstGeom prst="roundRect">
            <a:avLst>
              <a:gd name="adj" fmla="val 4000"/>
            </a:avLst>
          </a:prstGeom>
          <a:solidFill>
            <a:srgbClr val="F7F8FC"/>
          </a:solidFill>
          <a:ln/>
        </p:spPr>
      </p:sp>
      <p:sp>
        <p:nvSpPr>
          <p:cNvPr id="16" name="Shape 14"/>
          <p:cNvSpPr/>
          <p:nvPr/>
        </p:nvSpPr>
        <p:spPr>
          <a:xfrm>
            <a:off x="6446520" y="4206240"/>
            <a:ext cx="457200" cy="457200"/>
          </a:xfrm>
          <a:prstGeom prst="ellipse">
            <a:avLst/>
          </a:prstGeom>
          <a:solidFill>
            <a:srgbClr val="1E2761"/>
          </a:solidFill>
          <a:ln/>
        </p:spPr>
      </p:sp>
      <p:sp>
        <p:nvSpPr>
          <p:cNvPr id="17" name="Text 15"/>
          <p:cNvSpPr/>
          <p:nvPr/>
        </p:nvSpPr>
        <p:spPr>
          <a:xfrm>
            <a:off x="6446520" y="4206240"/>
            <a:ext cx="45720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p:nvPr/>
        </p:nvSpPr>
        <p:spPr>
          <a:xfrm>
            <a:off x="7040880" y="4251960"/>
            <a:ext cx="4114800" cy="36576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Golden Rule</a:t>
            </a:r>
            <a:endParaRPr lang="en-US" sz="1500" dirty="0"/>
          </a:p>
        </p:txBody>
      </p:sp>
      <p:sp>
        <p:nvSpPr>
          <p:cNvPr id="19" name="Text 17"/>
          <p:cNvSpPr/>
          <p:nvPr/>
        </p:nvSpPr>
        <p:spPr>
          <a:xfrm>
            <a:off x="6446520" y="4709160"/>
            <a:ext cx="4937760" cy="1463040"/>
          </a:xfrm>
          <a:prstGeom prst="rect">
            <a:avLst/>
          </a:prstGeom>
          <a:noFill/>
          <a:ln/>
        </p:spPr>
        <p:txBody>
          <a:bodyPr wrap="square" rtlCol="0" anchor="t"/>
          <a:lstStyle/>
          <a:p>
            <a:pPr marL="0" indent="0">
              <a:lnSpc>
                <a:spcPct val="125000"/>
              </a:lnSpc>
              <a:buNone/>
            </a:pPr>
            <a:r>
              <a:rPr lang="en-US" sz="1250" dirty="0">
                <a:solidFill>
                  <a:srgbClr val="1A1D2B"/>
                </a:solidFill>
                <a:latin typeface="Calibri" pitchFamily="34" charset="0"/>
                <a:ea typeface="Calibri" pitchFamily="34" charset="-122"/>
                <a:cs typeface="Calibri" pitchFamily="34" charset="-120"/>
              </a:rPr>
              <a:t>If a message asks you to log in, don't click the link. Open a new tab and type the company's known URL manually, or use a saved bookmark.</a:t>
            </a:r>
            <a:endParaRPr lang="en-US" sz="1250" dirty="0"/>
          </a:p>
        </p:txBody>
      </p:sp>
      <p:sp>
        <p:nvSpPr>
          <p:cNvPr id="20" name="Text 18"/>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21" name="Text 1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875520" y="4389120"/>
            <a:ext cx="3657600" cy="3657600"/>
          </a:xfrm>
          <a:prstGeom prst="ellipse">
            <a:avLst/>
          </a:prstGeom>
          <a:solidFill>
            <a:srgbClr val="1E2761"/>
          </a:solidFill>
          <a:ln/>
        </p:spPr>
      </p:sp>
      <p:sp>
        <p:nvSpPr>
          <p:cNvPr id="3" name="Shape 1"/>
          <p:cNvSpPr/>
          <p:nvPr/>
        </p:nvSpPr>
        <p:spPr>
          <a:xfrm>
            <a:off x="640080" y="640080"/>
            <a:ext cx="731520" cy="731520"/>
          </a:xfrm>
          <a:prstGeom prst="ellipse">
            <a:avLst/>
          </a:prstGeom>
          <a:solidFill>
            <a:srgbClr val="E63946"/>
          </a:solidFill>
          <a:ln/>
        </p:spPr>
      </p:sp>
      <p:sp>
        <p:nvSpPr>
          <p:cNvPr id="4" name="Text 2"/>
          <p:cNvSpPr/>
          <p:nvPr/>
        </p:nvSpPr>
        <p:spPr>
          <a:xfrm>
            <a:off x="640080" y="640080"/>
            <a:ext cx="731520" cy="731520"/>
          </a:xfrm>
          <a:prstGeom prst="rect">
            <a:avLst/>
          </a:prstGeom>
          <a:noFill/>
          <a:ln/>
        </p:spPr>
        <p:txBody>
          <a:bodyPr wrap="square" rtlCol="0" anchor="ctr"/>
          <a:lstStyle/>
          <a:p>
            <a:pPr marL="0" indent="0" algn="ctr">
              <a:buNone/>
            </a:pPr>
            <a:r>
              <a:rPr lang="en-US" sz="2240" b="1" dirty="0">
                <a:solidFill>
                  <a:srgbClr val="FFFFFF"/>
                </a:solidFill>
                <a:latin typeface="Calibri" pitchFamily="34" charset="0"/>
                <a:ea typeface="Calibri" pitchFamily="34" charset="-122"/>
                <a:cs typeface="Calibri" pitchFamily="34" charset="-120"/>
              </a:rPr>
              <a:t>🔒</a:t>
            </a:r>
            <a:endParaRPr lang="en-US" sz="2240" dirty="0"/>
          </a:p>
        </p:txBody>
      </p:sp>
      <p:sp>
        <p:nvSpPr>
          <p:cNvPr id="5" name="Text 3"/>
          <p:cNvSpPr/>
          <p:nvPr/>
        </p:nvSpPr>
        <p:spPr>
          <a:xfrm>
            <a:off x="548640" y="1600200"/>
            <a:ext cx="9144000" cy="822960"/>
          </a:xfrm>
          <a:prstGeom prst="rect">
            <a:avLst/>
          </a:prstGeom>
          <a:noFill/>
          <a:ln/>
        </p:spPr>
        <p:txBody>
          <a:bodyPr wrap="square"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The HTTPS Myth</a:t>
            </a:r>
            <a:endParaRPr lang="en-US" sz="3600" dirty="0"/>
          </a:p>
        </p:txBody>
      </p:sp>
      <p:sp>
        <p:nvSpPr>
          <p:cNvPr id="6" name="Text 4"/>
          <p:cNvSpPr/>
          <p:nvPr/>
        </p:nvSpPr>
        <p:spPr>
          <a:xfrm>
            <a:off x="548640" y="2606040"/>
            <a:ext cx="7772400" cy="457200"/>
          </a:xfrm>
          <a:prstGeom prst="rect">
            <a:avLst/>
          </a:prstGeom>
          <a:noFill/>
          <a:ln/>
        </p:spPr>
        <p:txBody>
          <a:bodyPr wrap="square" rtlCol="0" anchor="ctr"/>
          <a:lstStyle/>
          <a:p>
            <a:pPr marL="0" indent="0">
              <a:buNone/>
            </a:pPr>
            <a:r>
              <a:rPr lang="en-US" sz="1800" dirty="0" smtClean="0">
                <a:solidFill>
                  <a:srgbClr val="CADCFC"/>
                </a:solidFill>
                <a:latin typeface="Calibri" pitchFamily="34" charset="0"/>
                <a:ea typeface="Calibri" pitchFamily="34" charset="-122"/>
                <a:cs typeface="Calibri" pitchFamily="34" charset="-120"/>
              </a:rPr>
              <a:t>A </a:t>
            </a:r>
            <a:r>
              <a:rPr lang="en-US" sz="1800" dirty="0">
                <a:solidFill>
                  <a:srgbClr val="CADCFC"/>
                </a:solidFill>
                <a:latin typeface="Calibri" pitchFamily="34" charset="0"/>
                <a:ea typeface="Calibri" pitchFamily="34" charset="-122"/>
                <a:cs typeface="Calibri" pitchFamily="34" charset="-120"/>
              </a:rPr>
              <a:t>padlock icon means the connection is encrypted.</a:t>
            </a:r>
            <a:endParaRPr lang="en-US" sz="1800" dirty="0"/>
          </a:p>
        </p:txBody>
      </p:sp>
      <p:sp>
        <p:nvSpPr>
          <p:cNvPr id="7" name="Text 5"/>
          <p:cNvSpPr/>
          <p:nvPr/>
        </p:nvSpPr>
        <p:spPr>
          <a:xfrm>
            <a:off x="548640" y="3063240"/>
            <a:ext cx="7772400" cy="548640"/>
          </a:xfrm>
          <a:prstGeom prst="rect">
            <a:avLst/>
          </a:prstGeom>
          <a:noFill/>
          <a:ln/>
        </p:spPr>
        <p:txBody>
          <a:bodyPr wrap="square" rtlCol="0" anchor="ctr"/>
          <a:lstStyle/>
          <a:p>
            <a:pPr marL="0" indent="0">
              <a:buNone/>
            </a:pPr>
            <a:r>
              <a:rPr lang="en-US" sz="2200" b="1" dirty="0">
                <a:solidFill>
                  <a:srgbClr val="E63946"/>
                </a:solidFill>
                <a:latin typeface="Cambria" pitchFamily="34" charset="0"/>
                <a:ea typeface="Cambria" pitchFamily="34" charset="-122"/>
                <a:cs typeface="Cambria" pitchFamily="34" charset="-120"/>
              </a:rPr>
              <a:t>It does NOT mean the site is trustworthy.</a:t>
            </a:r>
            <a:endParaRPr lang="en-US" sz="2200" dirty="0"/>
          </a:p>
        </p:txBody>
      </p:sp>
      <p:sp>
        <p:nvSpPr>
          <p:cNvPr id="8" name="Text 6"/>
          <p:cNvSpPr/>
          <p:nvPr/>
        </p:nvSpPr>
        <p:spPr>
          <a:xfrm>
            <a:off x="548640" y="3931920"/>
            <a:ext cx="7315200" cy="1645920"/>
          </a:xfrm>
          <a:prstGeom prst="rect">
            <a:avLst/>
          </a:prstGeom>
          <a:noFill/>
          <a:ln/>
        </p:spPr>
        <p:txBody>
          <a:bodyPr wrap="square" rtlCol="0" anchor="t"/>
          <a:lstStyle/>
          <a:p>
            <a:pPr marL="0" indent="0">
              <a:lnSpc>
                <a:spcPct val="130000"/>
              </a:lnSpc>
              <a:buNone/>
            </a:pPr>
            <a:r>
              <a:rPr lang="en-US" sz="1500" dirty="0">
                <a:solidFill>
                  <a:srgbClr val="FFFFFF"/>
                </a:solidFill>
                <a:latin typeface="Calibri" pitchFamily="34" charset="0"/>
                <a:ea typeface="Calibri" pitchFamily="34" charset="-122"/>
                <a:cs typeface="Calibri" pitchFamily="34" charset="-120"/>
              </a:rPr>
              <a:t>Attackers can obtain free, valid HTTPS certificates just as easily as any legitimate business. A phishing site with a padlock is just as dangerous as one </a:t>
            </a:r>
            <a:r>
              <a:rPr lang="en-US" sz="1500" dirty="0" smtClean="0">
                <a:solidFill>
                  <a:srgbClr val="FFFFFF"/>
                </a:solidFill>
                <a:latin typeface="Calibri" pitchFamily="34" charset="0"/>
                <a:ea typeface="Calibri" pitchFamily="34" charset="-122"/>
                <a:cs typeface="Calibri" pitchFamily="34" charset="-120"/>
              </a:rPr>
              <a:t>without, because </a:t>
            </a:r>
            <a:r>
              <a:rPr lang="en-US" sz="1500" dirty="0">
                <a:solidFill>
                  <a:srgbClr val="FFFFFF"/>
                </a:solidFill>
                <a:latin typeface="Calibri" pitchFamily="34" charset="0"/>
                <a:ea typeface="Calibri" pitchFamily="34" charset="-122"/>
                <a:cs typeface="Calibri" pitchFamily="34" charset="-120"/>
              </a:rPr>
              <a:t>the padlock only confirms your connection to that site is private, not that the site itself is safe</a:t>
            </a:r>
            <a:r>
              <a:rPr lang="en-US" sz="1500" dirty="0" smtClean="0">
                <a:solidFill>
                  <a:srgbClr val="FFFFFF"/>
                </a:solidFill>
                <a:latin typeface="Calibri" pitchFamily="34" charset="0"/>
                <a:ea typeface="Calibri" pitchFamily="34" charset="-122"/>
                <a:cs typeface="Calibri" pitchFamily="34" charset="-120"/>
              </a:rPr>
              <a:t>. </a:t>
            </a:r>
            <a:endParaRPr lang="en-US" sz="1500" dirty="0"/>
          </a:p>
        </p:txBody>
      </p:sp>
      <p:sp>
        <p:nvSpPr>
          <p:cNvPr id="9" name="Text 7"/>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10058400" cy="548640"/>
          </a:xfrm>
          <a:prstGeom prst="rect">
            <a:avLst/>
          </a:prstGeom>
          <a:noFill/>
          <a:ln/>
        </p:spPr>
        <p:txBody>
          <a:bodyPr wrap="square" rtlCol="0" anchor="ctr"/>
          <a:lstStyle/>
          <a:p>
            <a:pPr marL="0" indent="0">
              <a:buNone/>
            </a:pPr>
            <a:r>
              <a:rPr lang="en-US" sz="3000" b="1" dirty="0" smtClean="0">
                <a:solidFill>
                  <a:srgbClr val="1E2761"/>
                </a:solidFill>
                <a:latin typeface="Cambria" pitchFamily="34" charset="0"/>
                <a:ea typeface="Cambria" pitchFamily="34" charset="-122"/>
                <a:cs typeface="Cambria" pitchFamily="34" charset="-120"/>
              </a:rPr>
              <a:t>Social Engineering Tactics</a:t>
            </a:r>
            <a:endParaRPr lang="en-US" sz="3000" dirty="0"/>
          </a:p>
        </p:txBody>
      </p:sp>
      <p:sp>
        <p:nvSpPr>
          <p:cNvPr id="3" name="Text 1"/>
          <p:cNvSpPr/>
          <p:nvPr/>
        </p:nvSpPr>
        <p:spPr>
          <a:xfrm>
            <a:off x="548640" y="960120"/>
            <a:ext cx="10058400" cy="365760"/>
          </a:xfrm>
          <a:prstGeom prst="rect">
            <a:avLst/>
          </a:prstGeom>
          <a:noFill/>
          <a:ln/>
        </p:spPr>
        <p:txBody>
          <a:bodyPr wrap="square" rtlCol="0" anchor="ctr"/>
          <a:lstStyle/>
          <a:p>
            <a:pPr marL="0" indent="0">
              <a:buNone/>
            </a:pPr>
            <a:r>
              <a:rPr lang="en-US" sz="1400" i="1" dirty="0">
                <a:solidFill>
                  <a:srgbClr val="5B6478"/>
                </a:solidFill>
                <a:latin typeface="Calibri" pitchFamily="34" charset="0"/>
                <a:ea typeface="Calibri" pitchFamily="34" charset="-122"/>
                <a:cs typeface="Calibri" pitchFamily="34" charset="-120"/>
              </a:rPr>
              <a:t>Attackers don't hack your computer </a:t>
            </a:r>
            <a:r>
              <a:rPr lang="en-US" sz="1400" i="1" dirty="0" smtClean="0">
                <a:solidFill>
                  <a:srgbClr val="5B6478"/>
                </a:solidFill>
                <a:latin typeface="Calibri" pitchFamily="34" charset="0"/>
                <a:ea typeface="Calibri" pitchFamily="34" charset="-122"/>
                <a:cs typeface="Calibri" pitchFamily="34" charset="-120"/>
              </a:rPr>
              <a:t>first, they </a:t>
            </a:r>
            <a:r>
              <a:rPr lang="en-US" sz="1400" i="1" dirty="0">
                <a:solidFill>
                  <a:srgbClr val="5B6478"/>
                </a:solidFill>
                <a:latin typeface="Calibri" pitchFamily="34" charset="0"/>
                <a:ea typeface="Calibri" pitchFamily="34" charset="-122"/>
                <a:cs typeface="Calibri" pitchFamily="34" charset="-120"/>
              </a:rPr>
              <a:t>hack your emotional state first.</a:t>
            </a:r>
            <a:endParaRPr lang="en-US" sz="1400" dirty="0"/>
          </a:p>
        </p:txBody>
      </p:sp>
      <p:sp>
        <p:nvSpPr>
          <p:cNvPr id="4" name="Shape 2"/>
          <p:cNvSpPr/>
          <p:nvPr/>
        </p:nvSpPr>
        <p:spPr>
          <a:xfrm>
            <a:off x="548640" y="1600200"/>
            <a:ext cx="3566160" cy="2148840"/>
          </a:xfrm>
          <a:prstGeom prst="roundRect">
            <a:avLst>
              <a:gd name="adj" fmla="val 4255"/>
            </a:avLst>
          </a:prstGeom>
          <a:solidFill>
            <a:srgbClr val="F7F8FC"/>
          </a:solidFill>
          <a:ln/>
        </p:spPr>
      </p:sp>
      <p:sp>
        <p:nvSpPr>
          <p:cNvPr id="5" name="Shape 3"/>
          <p:cNvSpPr/>
          <p:nvPr/>
        </p:nvSpPr>
        <p:spPr>
          <a:xfrm>
            <a:off x="777240" y="1828800"/>
            <a:ext cx="502920" cy="502920"/>
          </a:xfrm>
          <a:prstGeom prst="ellipse">
            <a:avLst/>
          </a:prstGeom>
          <a:solidFill>
            <a:srgbClr val="E63946"/>
          </a:solidFill>
          <a:ln/>
        </p:spPr>
      </p:sp>
      <p:sp>
        <p:nvSpPr>
          <p:cNvPr id="6" name="Text 4"/>
          <p:cNvSpPr/>
          <p:nvPr/>
        </p:nvSpPr>
        <p:spPr>
          <a:xfrm>
            <a:off x="777240" y="182880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7" name="Text 5"/>
          <p:cNvSpPr/>
          <p:nvPr/>
        </p:nvSpPr>
        <p:spPr>
          <a:xfrm>
            <a:off x="1417320" y="180136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Authority</a:t>
            </a:r>
            <a:endParaRPr lang="en-US" sz="1500" dirty="0"/>
          </a:p>
        </p:txBody>
      </p:sp>
      <p:sp>
        <p:nvSpPr>
          <p:cNvPr id="8" name="Text 6"/>
          <p:cNvSpPr/>
          <p:nvPr/>
        </p:nvSpPr>
        <p:spPr>
          <a:xfrm>
            <a:off x="777240" y="246888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Impersonating a CEO, bank, or IT department to trigger automatic compliance.</a:t>
            </a:r>
            <a:endParaRPr lang="en-US" sz="1400" dirty="0"/>
          </a:p>
        </p:txBody>
      </p:sp>
      <p:sp>
        <p:nvSpPr>
          <p:cNvPr id="9" name="Shape 7"/>
          <p:cNvSpPr/>
          <p:nvPr/>
        </p:nvSpPr>
        <p:spPr>
          <a:xfrm>
            <a:off x="4343400" y="1600200"/>
            <a:ext cx="3566160" cy="2148840"/>
          </a:xfrm>
          <a:prstGeom prst="roundRect">
            <a:avLst>
              <a:gd name="adj" fmla="val 4255"/>
            </a:avLst>
          </a:prstGeom>
          <a:solidFill>
            <a:srgbClr val="F7F8FC"/>
          </a:solidFill>
          <a:ln/>
        </p:spPr>
      </p:sp>
      <p:sp>
        <p:nvSpPr>
          <p:cNvPr id="10" name="Shape 8"/>
          <p:cNvSpPr/>
          <p:nvPr/>
        </p:nvSpPr>
        <p:spPr>
          <a:xfrm>
            <a:off x="4572000" y="1828800"/>
            <a:ext cx="502920" cy="502920"/>
          </a:xfrm>
          <a:prstGeom prst="ellipse">
            <a:avLst/>
          </a:prstGeom>
          <a:solidFill>
            <a:srgbClr val="E63946"/>
          </a:solidFill>
          <a:ln/>
        </p:spPr>
      </p:sp>
      <p:sp>
        <p:nvSpPr>
          <p:cNvPr id="11" name="Text 9"/>
          <p:cNvSpPr/>
          <p:nvPr/>
        </p:nvSpPr>
        <p:spPr>
          <a:xfrm>
            <a:off x="4572000" y="182880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12" name="Text 10"/>
          <p:cNvSpPr/>
          <p:nvPr/>
        </p:nvSpPr>
        <p:spPr>
          <a:xfrm>
            <a:off x="5212080" y="180136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Urgency</a:t>
            </a:r>
            <a:endParaRPr lang="en-US" sz="1500" dirty="0"/>
          </a:p>
        </p:txBody>
      </p:sp>
      <p:sp>
        <p:nvSpPr>
          <p:cNvPr id="13" name="Text 11"/>
          <p:cNvSpPr/>
          <p:nvPr/>
        </p:nvSpPr>
        <p:spPr>
          <a:xfrm>
            <a:off x="4572000" y="246888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Time pressure short-circuits careful thinking </a:t>
            </a:r>
            <a:r>
              <a:rPr lang="en-US" sz="1400" dirty="0" err="1" smtClean="0">
                <a:solidFill>
                  <a:srgbClr val="1A1D2B"/>
                </a:solidFill>
                <a:latin typeface="Calibri" pitchFamily="34" charset="0"/>
                <a:ea typeface="Calibri" pitchFamily="34" charset="-122"/>
                <a:cs typeface="Calibri" pitchFamily="34" charset="-120"/>
              </a:rPr>
              <a:t>eg</a:t>
            </a:r>
            <a:r>
              <a:rPr lang="en-US" sz="1400" dirty="0" smtClean="0">
                <a:solidFill>
                  <a:srgbClr val="1A1D2B"/>
                </a:solidFill>
                <a:latin typeface="Calibri" pitchFamily="34" charset="0"/>
                <a:ea typeface="Calibri" pitchFamily="34" charset="-122"/>
                <a:cs typeface="Calibri" pitchFamily="34" charset="-120"/>
              </a:rPr>
              <a:t>.</a:t>
            </a:r>
            <a:r>
              <a:rPr lang="en-US" sz="1400" dirty="0" smtClean="0">
                <a:solidFill>
                  <a:srgbClr val="1A1D2B"/>
                </a:solidFill>
                <a:latin typeface="Calibri" pitchFamily="34" charset="0"/>
                <a:ea typeface="Calibri" pitchFamily="34" charset="-122"/>
                <a:cs typeface="Calibri" pitchFamily="34" charset="-120"/>
              </a:rPr>
              <a:t> </a:t>
            </a:r>
            <a:r>
              <a:rPr lang="en-US" sz="1400" dirty="0">
                <a:solidFill>
                  <a:srgbClr val="1A1D2B"/>
                </a:solidFill>
                <a:latin typeface="Calibri" pitchFamily="34" charset="0"/>
                <a:ea typeface="Calibri" pitchFamily="34" charset="-122"/>
                <a:cs typeface="Calibri" pitchFamily="34" charset="-120"/>
              </a:rPr>
              <a:t>“act now or lose access.”</a:t>
            </a:r>
            <a:endParaRPr lang="en-US" sz="1400" dirty="0"/>
          </a:p>
        </p:txBody>
      </p:sp>
      <p:sp>
        <p:nvSpPr>
          <p:cNvPr id="14" name="Shape 12"/>
          <p:cNvSpPr/>
          <p:nvPr/>
        </p:nvSpPr>
        <p:spPr>
          <a:xfrm>
            <a:off x="8138160" y="1600200"/>
            <a:ext cx="3566160" cy="2148840"/>
          </a:xfrm>
          <a:prstGeom prst="roundRect">
            <a:avLst>
              <a:gd name="adj" fmla="val 4255"/>
            </a:avLst>
          </a:prstGeom>
          <a:solidFill>
            <a:srgbClr val="F7F8FC"/>
          </a:solidFill>
          <a:ln/>
        </p:spPr>
      </p:sp>
      <p:sp>
        <p:nvSpPr>
          <p:cNvPr id="15" name="Shape 13"/>
          <p:cNvSpPr/>
          <p:nvPr/>
        </p:nvSpPr>
        <p:spPr>
          <a:xfrm>
            <a:off x="8366760" y="1828800"/>
            <a:ext cx="502920" cy="502920"/>
          </a:xfrm>
          <a:prstGeom prst="ellipse">
            <a:avLst/>
          </a:prstGeom>
          <a:solidFill>
            <a:srgbClr val="E63946"/>
          </a:solidFill>
          <a:ln/>
        </p:spPr>
      </p:sp>
      <p:sp>
        <p:nvSpPr>
          <p:cNvPr id="16" name="Text 14"/>
          <p:cNvSpPr/>
          <p:nvPr/>
        </p:nvSpPr>
        <p:spPr>
          <a:xfrm>
            <a:off x="8366760" y="182880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17" name="Text 15"/>
          <p:cNvSpPr/>
          <p:nvPr/>
        </p:nvSpPr>
        <p:spPr>
          <a:xfrm>
            <a:off x="9006840" y="180136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Fear</a:t>
            </a:r>
            <a:endParaRPr lang="en-US" sz="1500" dirty="0"/>
          </a:p>
        </p:txBody>
      </p:sp>
      <p:sp>
        <p:nvSpPr>
          <p:cNvPr id="18" name="Text 16"/>
          <p:cNvSpPr/>
          <p:nvPr/>
        </p:nvSpPr>
        <p:spPr>
          <a:xfrm>
            <a:off x="8366760" y="246888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Anxiety about money, legal trouble, or a virus overrides caution.</a:t>
            </a:r>
            <a:endParaRPr lang="en-US" sz="1400" dirty="0"/>
          </a:p>
        </p:txBody>
      </p:sp>
      <p:sp>
        <p:nvSpPr>
          <p:cNvPr id="19" name="Shape 17"/>
          <p:cNvSpPr/>
          <p:nvPr/>
        </p:nvSpPr>
        <p:spPr>
          <a:xfrm>
            <a:off x="548640" y="3977640"/>
            <a:ext cx="3566160" cy="2148840"/>
          </a:xfrm>
          <a:prstGeom prst="roundRect">
            <a:avLst>
              <a:gd name="adj" fmla="val 4255"/>
            </a:avLst>
          </a:prstGeom>
          <a:solidFill>
            <a:srgbClr val="F7F8FC"/>
          </a:solidFill>
          <a:ln/>
        </p:spPr>
      </p:sp>
      <p:sp>
        <p:nvSpPr>
          <p:cNvPr id="20" name="Shape 18"/>
          <p:cNvSpPr/>
          <p:nvPr/>
        </p:nvSpPr>
        <p:spPr>
          <a:xfrm>
            <a:off x="777240" y="4206240"/>
            <a:ext cx="502920" cy="502920"/>
          </a:xfrm>
          <a:prstGeom prst="ellipse">
            <a:avLst/>
          </a:prstGeom>
          <a:solidFill>
            <a:srgbClr val="E63946"/>
          </a:solidFill>
          <a:ln/>
        </p:spPr>
      </p:sp>
      <p:sp>
        <p:nvSpPr>
          <p:cNvPr id="21" name="Text 19"/>
          <p:cNvSpPr/>
          <p:nvPr/>
        </p:nvSpPr>
        <p:spPr>
          <a:xfrm>
            <a:off x="777240" y="420624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22" name="Text 20"/>
          <p:cNvSpPr/>
          <p:nvPr/>
        </p:nvSpPr>
        <p:spPr>
          <a:xfrm>
            <a:off x="1417320" y="417880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Trust</a:t>
            </a:r>
            <a:endParaRPr lang="en-US" sz="1500" dirty="0"/>
          </a:p>
        </p:txBody>
      </p:sp>
      <p:sp>
        <p:nvSpPr>
          <p:cNvPr id="23" name="Text 21"/>
          <p:cNvSpPr/>
          <p:nvPr/>
        </p:nvSpPr>
        <p:spPr>
          <a:xfrm>
            <a:off x="777240" y="484632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Impersonating a brand, coworker, or friend to lower your guard.</a:t>
            </a:r>
            <a:endParaRPr lang="en-US" sz="1400" dirty="0"/>
          </a:p>
        </p:txBody>
      </p:sp>
      <p:sp>
        <p:nvSpPr>
          <p:cNvPr id="24" name="Shape 22"/>
          <p:cNvSpPr/>
          <p:nvPr/>
        </p:nvSpPr>
        <p:spPr>
          <a:xfrm>
            <a:off x="4343400" y="3977640"/>
            <a:ext cx="3566160" cy="2148840"/>
          </a:xfrm>
          <a:prstGeom prst="roundRect">
            <a:avLst>
              <a:gd name="adj" fmla="val 4255"/>
            </a:avLst>
          </a:prstGeom>
          <a:solidFill>
            <a:srgbClr val="F7F8FC"/>
          </a:solidFill>
          <a:ln/>
        </p:spPr>
      </p:sp>
      <p:sp>
        <p:nvSpPr>
          <p:cNvPr id="25" name="Shape 23"/>
          <p:cNvSpPr/>
          <p:nvPr/>
        </p:nvSpPr>
        <p:spPr>
          <a:xfrm>
            <a:off x="4572000" y="4206240"/>
            <a:ext cx="502920" cy="502920"/>
          </a:xfrm>
          <a:prstGeom prst="ellipse">
            <a:avLst/>
          </a:prstGeom>
          <a:solidFill>
            <a:srgbClr val="E63946"/>
          </a:solidFill>
          <a:ln/>
        </p:spPr>
      </p:sp>
      <p:sp>
        <p:nvSpPr>
          <p:cNvPr id="26" name="Text 24"/>
          <p:cNvSpPr/>
          <p:nvPr/>
        </p:nvSpPr>
        <p:spPr>
          <a:xfrm>
            <a:off x="4572000" y="420624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27" name="Text 25"/>
          <p:cNvSpPr/>
          <p:nvPr/>
        </p:nvSpPr>
        <p:spPr>
          <a:xfrm>
            <a:off x="5212080" y="417880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Curiosity</a:t>
            </a:r>
            <a:endParaRPr lang="en-US" sz="1500" dirty="0"/>
          </a:p>
        </p:txBody>
      </p:sp>
      <p:sp>
        <p:nvSpPr>
          <p:cNvPr id="28" name="Text 26"/>
          <p:cNvSpPr/>
          <p:nvPr/>
        </p:nvSpPr>
        <p:spPr>
          <a:xfrm>
            <a:off x="4572000" y="484632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A vague, intriguing message compels a click just to find out more.</a:t>
            </a:r>
            <a:endParaRPr lang="en-US" sz="1400" dirty="0"/>
          </a:p>
        </p:txBody>
      </p:sp>
      <p:sp>
        <p:nvSpPr>
          <p:cNvPr id="29" name="Shape 27"/>
          <p:cNvSpPr/>
          <p:nvPr/>
        </p:nvSpPr>
        <p:spPr>
          <a:xfrm>
            <a:off x="8138160" y="3977640"/>
            <a:ext cx="3566160" cy="2148840"/>
          </a:xfrm>
          <a:prstGeom prst="roundRect">
            <a:avLst>
              <a:gd name="adj" fmla="val 4255"/>
            </a:avLst>
          </a:prstGeom>
          <a:solidFill>
            <a:srgbClr val="F7F8FC"/>
          </a:solidFill>
          <a:ln/>
        </p:spPr>
      </p:sp>
      <p:sp>
        <p:nvSpPr>
          <p:cNvPr id="30" name="Shape 28"/>
          <p:cNvSpPr/>
          <p:nvPr/>
        </p:nvSpPr>
        <p:spPr>
          <a:xfrm>
            <a:off x="8366760" y="4206240"/>
            <a:ext cx="502920" cy="502920"/>
          </a:xfrm>
          <a:prstGeom prst="ellipse">
            <a:avLst/>
          </a:prstGeom>
          <a:solidFill>
            <a:srgbClr val="E63946"/>
          </a:solidFill>
          <a:ln/>
        </p:spPr>
      </p:sp>
      <p:sp>
        <p:nvSpPr>
          <p:cNvPr id="31" name="Text 29"/>
          <p:cNvSpPr/>
          <p:nvPr/>
        </p:nvSpPr>
        <p:spPr>
          <a:xfrm>
            <a:off x="8366760" y="4206240"/>
            <a:ext cx="502920" cy="502920"/>
          </a:xfrm>
          <a:prstGeom prst="rect">
            <a:avLst/>
          </a:prstGeom>
          <a:noFill/>
          <a:ln/>
        </p:spPr>
        <p:txBody>
          <a:bodyPr wrap="square" rtlCol="0" anchor="ctr"/>
          <a:lstStyle/>
          <a:p>
            <a:pPr marL="0" indent="0" algn="ctr">
              <a:buNone/>
            </a:pPr>
            <a:r>
              <a:rPr lang="en-US" sz="1540" b="1" dirty="0">
                <a:solidFill>
                  <a:srgbClr val="FFFFFF"/>
                </a:solidFill>
                <a:latin typeface="Calibri" pitchFamily="34" charset="0"/>
                <a:ea typeface="Calibri" pitchFamily="34" charset="-122"/>
                <a:cs typeface="Calibri" pitchFamily="34" charset="-120"/>
              </a:rPr>
              <a:t>🎁</a:t>
            </a:r>
            <a:endParaRPr lang="en-US" sz="1540" dirty="0"/>
          </a:p>
        </p:txBody>
      </p:sp>
      <p:sp>
        <p:nvSpPr>
          <p:cNvPr id="32" name="Text 30"/>
          <p:cNvSpPr/>
          <p:nvPr/>
        </p:nvSpPr>
        <p:spPr>
          <a:xfrm>
            <a:off x="9006840" y="4178808"/>
            <a:ext cx="2560320" cy="457200"/>
          </a:xfrm>
          <a:prstGeom prst="rect">
            <a:avLst/>
          </a:prstGeom>
          <a:noFill/>
          <a:ln/>
        </p:spPr>
        <p:txBody>
          <a:bodyPr wrap="square" rtlCol="0" anchor="ctr"/>
          <a:lstStyle/>
          <a:p>
            <a:pPr marL="0" indent="0">
              <a:buNone/>
            </a:pPr>
            <a:r>
              <a:rPr lang="en-US" sz="1500" b="1" dirty="0">
                <a:solidFill>
                  <a:srgbClr val="1E2761"/>
                </a:solidFill>
                <a:latin typeface="Cambria" pitchFamily="34" charset="0"/>
                <a:ea typeface="Cambria" pitchFamily="34" charset="-122"/>
                <a:cs typeface="Cambria" pitchFamily="34" charset="-120"/>
              </a:rPr>
              <a:t>Reciprocity / Greed</a:t>
            </a:r>
            <a:endParaRPr lang="en-US" sz="1500" dirty="0"/>
          </a:p>
        </p:txBody>
      </p:sp>
      <p:sp>
        <p:nvSpPr>
          <p:cNvPr id="33" name="Text 31"/>
          <p:cNvSpPr/>
          <p:nvPr/>
        </p:nvSpPr>
        <p:spPr>
          <a:xfrm>
            <a:off x="8366760" y="4846320"/>
            <a:ext cx="3108960" cy="1143000"/>
          </a:xfrm>
          <a:prstGeom prst="rect">
            <a:avLst/>
          </a:prstGeom>
          <a:noFill/>
          <a:ln/>
        </p:spPr>
        <p:txBody>
          <a:bodyPr wrap="square" rtlCol="0" anchor="t"/>
          <a:lstStyle/>
          <a:p>
            <a:pPr marL="0" indent="0">
              <a:lnSpc>
                <a:spcPct val="120000"/>
              </a:lnSpc>
              <a:buNone/>
            </a:pPr>
            <a:r>
              <a:rPr lang="en-US" sz="1400" dirty="0">
                <a:solidFill>
                  <a:srgbClr val="1A1D2B"/>
                </a:solidFill>
                <a:latin typeface="Calibri" pitchFamily="34" charset="0"/>
                <a:ea typeface="Calibri" pitchFamily="34" charset="-122"/>
                <a:cs typeface="Calibri" pitchFamily="34" charset="-120"/>
              </a:rPr>
              <a:t>A prize or refund taps into the instinct to seize a good opportunity.</a:t>
            </a:r>
            <a:endParaRPr lang="en-US" sz="1400" dirty="0"/>
          </a:p>
        </p:txBody>
      </p:sp>
      <p:sp>
        <p:nvSpPr>
          <p:cNvPr id="34" name="Text 32"/>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35" name="Text 3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48640" y="502920"/>
            <a:ext cx="2194560" cy="411480"/>
          </a:xfrm>
          <a:prstGeom prst="roundRect">
            <a:avLst>
              <a:gd name="adj" fmla="val 13333"/>
            </a:avLst>
          </a:prstGeom>
          <a:solidFill>
            <a:srgbClr val="E63946"/>
          </a:solidFill>
          <a:ln/>
        </p:spPr>
      </p:sp>
      <p:sp>
        <p:nvSpPr>
          <p:cNvPr id="3" name="Text 1"/>
          <p:cNvSpPr/>
          <p:nvPr/>
        </p:nvSpPr>
        <p:spPr>
          <a:xfrm>
            <a:off x="548640" y="502920"/>
            <a:ext cx="219456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CASE STUDY 1</a:t>
            </a:r>
            <a:endParaRPr lang="en-US" sz="1200" dirty="0"/>
          </a:p>
        </p:txBody>
      </p:sp>
      <p:sp>
        <p:nvSpPr>
          <p:cNvPr id="4" name="Text 2"/>
          <p:cNvSpPr/>
          <p:nvPr/>
        </p:nvSpPr>
        <p:spPr>
          <a:xfrm>
            <a:off x="548640" y="1051560"/>
            <a:ext cx="7315200" cy="91440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$100M+ Invoice Scam</a:t>
            </a:r>
            <a:endParaRPr lang="en-US" sz="2600" dirty="0"/>
          </a:p>
        </p:txBody>
      </p:sp>
      <p:sp>
        <p:nvSpPr>
          <p:cNvPr id="5" name="Text 3"/>
          <p:cNvSpPr/>
          <p:nvPr/>
        </p:nvSpPr>
        <p:spPr>
          <a:xfrm>
            <a:off x="548640" y="2057400"/>
            <a:ext cx="6949440" cy="2926080"/>
          </a:xfrm>
          <a:prstGeom prst="rect">
            <a:avLst/>
          </a:prstGeom>
          <a:noFill/>
          <a:ln/>
        </p:spPr>
        <p:txBody>
          <a:bodyPr wrap="square" rtlCol="0" anchor="t"/>
          <a:lstStyle/>
          <a:p>
            <a:pPr marL="0" indent="0">
              <a:lnSpc>
                <a:spcPct val="130000"/>
              </a:lnSpc>
              <a:buNone/>
            </a:pPr>
            <a:r>
              <a:rPr lang="en-US" sz="1400" dirty="0">
                <a:solidFill>
                  <a:srgbClr val="1A1D2B"/>
                </a:solidFill>
                <a:latin typeface="Calibri" pitchFamily="34" charset="0"/>
                <a:ea typeface="Calibri" pitchFamily="34" charset="-122"/>
                <a:cs typeface="Calibri" pitchFamily="34" charset="-120"/>
              </a:rPr>
              <a:t>Between 2013 and 2015, Lithuanian scammer Evaldas Rimasauskas impersonated Quanta Computer, a hardware manufacturer that genuinely did business with Facebook and Google. Using forged invoices, contracts, and fake corporate seals, he tricked employees at both companies into wiring payments to bank accounts he controlled.</a:t>
            </a:r>
            <a:endParaRPr lang="en-US" sz="1400" dirty="0"/>
          </a:p>
          <a:p>
            <a:pPr marL="0" indent="0">
              <a:lnSpc>
                <a:spcPct val="130000"/>
              </a:lnSpc>
              <a:buNone/>
            </a:pPr>
            <a:endParaRPr lang="en-US" sz="1400" dirty="0"/>
          </a:p>
          <a:p>
            <a:pPr marL="0" indent="0">
              <a:lnSpc>
                <a:spcPct val="130000"/>
              </a:lnSpc>
              <a:buNone/>
            </a:pPr>
            <a:r>
              <a:rPr lang="en-US" sz="1400" dirty="0">
                <a:solidFill>
                  <a:srgbClr val="1A1D2B"/>
                </a:solidFill>
                <a:latin typeface="Calibri" pitchFamily="34" charset="0"/>
                <a:ea typeface="Calibri" pitchFamily="34" charset="-122"/>
                <a:cs typeface="Calibri" pitchFamily="34" charset="-120"/>
              </a:rPr>
              <a:t>No malware. No hacking. Just a convincing fake vendor relationship.</a:t>
            </a:r>
            <a:endParaRPr lang="en-US" sz="1400" dirty="0"/>
          </a:p>
        </p:txBody>
      </p:sp>
      <p:sp>
        <p:nvSpPr>
          <p:cNvPr id="6" name="Shape 4"/>
          <p:cNvSpPr/>
          <p:nvPr/>
        </p:nvSpPr>
        <p:spPr>
          <a:xfrm>
            <a:off x="548640" y="5120640"/>
            <a:ext cx="6949440" cy="1051560"/>
          </a:xfrm>
          <a:prstGeom prst="roundRect">
            <a:avLst>
              <a:gd name="adj" fmla="val 8696"/>
            </a:avLst>
          </a:prstGeom>
          <a:solidFill>
            <a:srgbClr val="1E2761"/>
          </a:solidFill>
          <a:ln/>
        </p:spPr>
      </p:sp>
      <p:sp>
        <p:nvSpPr>
          <p:cNvPr id="7" name="Text 5"/>
          <p:cNvSpPr/>
          <p:nvPr/>
        </p:nvSpPr>
        <p:spPr>
          <a:xfrm>
            <a:off x="777240" y="5230368"/>
            <a:ext cx="1828800" cy="274320"/>
          </a:xfrm>
          <a:prstGeom prst="rect">
            <a:avLst/>
          </a:prstGeom>
          <a:noFill/>
          <a:ln/>
        </p:spPr>
        <p:txBody>
          <a:bodyPr wrap="square"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 LESSON</a:t>
            </a:r>
            <a:endParaRPr lang="en-US" sz="1000" dirty="0"/>
          </a:p>
        </p:txBody>
      </p:sp>
      <p:sp>
        <p:nvSpPr>
          <p:cNvPr id="8" name="Text 6"/>
          <p:cNvSpPr/>
          <p:nvPr/>
        </p:nvSpPr>
        <p:spPr>
          <a:xfrm>
            <a:off x="777240" y="5486400"/>
            <a:ext cx="6492240" cy="59436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Even the most sophisticated companies are vulnerable to a well-crafted impersonation. Always verify unusual payment requests through a second, independent channel.</a:t>
            </a:r>
            <a:endParaRPr lang="en-US" sz="1200" dirty="0"/>
          </a:p>
        </p:txBody>
      </p:sp>
      <p:sp>
        <p:nvSpPr>
          <p:cNvPr id="9" name="Shape 7"/>
          <p:cNvSpPr/>
          <p:nvPr/>
        </p:nvSpPr>
        <p:spPr>
          <a:xfrm>
            <a:off x="7863840" y="1051560"/>
            <a:ext cx="3749040" cy="5120640"/>
          </a:xfrm>
          <a:prstGeom prst="roundRect">
            <a:avLst>
              <a:gd name="adj" fmla="val 2927"/>
            </a:avLst>
          </a:prstGeom>
          <a:solidFill>
            <a:srgbClr val="FFFFFF"/>
          </a:solidFill>
          <a:ln/>
          <a:effectLst>
            <a:outerShdw blurRad="76200" dist="25400" dir="5400000" algn="bl" rotWithShape="0">
              <a:srgbClr val="888888">
                <a:alpha val="20000"/>
              </a:srgbClr>
            </a:outerShdw>
          </a:effectLst>
        </p:spPr>
      </p:sp>
      <p:sp>
        <p:nvSpPr>
          <p:cNvPr id="10" name="Text 8"/>
          <p:cNvSpPr/>
          <p:nvPr/>
        </p:nvSpPr>
        <p:spPr>
          <a:xfrm>
            <a:off x="7863840" y="2377440"/>
            <a:ext cx="3749040" cy="1097280"/>
          </a:xfrm>
          <a:prstGeom prst="rect">
            <a:avLst/>
          </a:prstGeom>
          <a:noFill/>
          <a:ln/>
        </p:spPr>
        <p:txBody>
          <a:bodyPr wrap="square" rtlCol="0" anchor="ctr"/>
          <a:lstStyle/>
          <a:p>
            <a:pPr marL="0" indent="0" algn="ctr">
              <a:buNone/>
            </a:pPr>
            <a:r>
              <a:rPr lang="en-US" sz="4600" b="1" dirty="0">
                <a:solidFill>
                  <a:srgbClr val="E63946"/>
                </a:solidFill>
                <a:latin typeface="Cambria" pitchFamily="34" charset="0"/>
                <a:ea typeface="Cambria" pitchFamily="34" charset="-122"/>
                <a:cs typeface="Cambria" pitchFamily="34" charset="-120"/>
              </a:rPr>
              <a:t>$100M+</a:t>
            </a:r>
            <a:endParaRPr lang="en-US" sz="4600" dirty="0"/>
          </a:p>
        </p:txBody>
      </p:sp>
      <p:sp>
        <p:nvSpPr>
          <p:cNvPr id="11" name="Text 9"/>
          <p:cNvSpPr/>
          <p:nvPr/>
        </p:nvSpPr>
        <p:spPr>
          <a:xfrm>
            <a:off x="8092440" y="3520440"/>
            <a:ext cx="3291840" cy="914400"/>
          </a:xfrm>
          <a:prstGeom prst="rect">
            <a:avLst/>
          </a:prstGeom>
          <a:noFill/>
          <a:ln/>
        </p:spPr>
        <p:txBody>
          <a:bodyPr wrap="square" rtlCol="0" anchor="ctr"/>
          <a:lstStyle/>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wired to accounts</a:t>
            </a:r>
            <a:endParaRPr lang="en-US" sz="1300" dirty="0"/>
          </a:p>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controlled by the attacker</a:t>
            </a:r>
            <a:endParaRPr lang="en-US" sz="1300" dirty="0"/>
          </a:p>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over two years</a:t>
            </a:r>
            <a:endParaRPr lang="en-US" sz="1300" dirty="0"/>
          </a:p>
        </p:txBody>
      </p:sp>
      <p:sp>
        <p:nvSpPr>
          <p:cNvPr id="12" name="Text 10"/>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48640" y="502920"/>
            <a:ext cx="2194560" cy="411480"/>
          </a:xfrm>
          <a:prstGeom prst="roundRect">
            <a:avLst>
              <a:gd name="adj" fmla="val 13333"/>
            </a:avLst>
          </a:prstGeom>
          <a:solidFill>
            <a:srgbClr val="E63946"/>
          </a:solidFill>
          <a:ln/>
        </p:spPr>
      </p:sp>
      <p:sp>
        <p:nvSpPr>
          <p:cNvPr id="3" name="Text 1"/>
          <p:cNvSpPr/>
          <p:nvPr/>
        </p:nvSpPr>
        <p:spPr>
          <a:xfrm>
            <a:off x="548640" y="502920"/>
            <a:ext cx="219456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CASE STUDY 2</a:t>
            </a:r>
            <a:endParaRPr lang="en-US" sz="1200" dirty="0"/>
          </a:p>
        </p:txBody>
      </p:sp>
      <p:sp>
        <p:nvSpPr>
          <p:cNvPr id="4" name="Text 2"/>
          <p:cNvSpPr/>
          <p:nvPr/>
        </p:nvSpPr>
        <p:spPr>
          <a:xfrm>
            <a:off x="548640" y="1051560"/>
            <a:ext cx="7315200" cy="91440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The 2011 RSA Breach</a:t>
            </a:r>
            <a:endParaRPr lang="en-US" sz="2600" dirty="0"/>
          </a:p>
        </p:txBody>
      </p:sp>
      <p:sp>
        <p:nvSpPr>
          <p:cNvPr id="5" name="Text 3"/>
          <p:cNvSpPr/>
          <p:nvPr/>
        </p:nvSpPr>
        <p:spPr>
          <a:xfrm>
            <a:off x="548640" y="2057400"/>
            <a:ext cx="6949440" cy="2926080"/>
          </a:xfrm>
          <a:prstGeom prst="rect">
            <a:avLst/>
          </a:prstGeom>
          <a:noFill/>
          <a:ln/>
        </p:spPr>
        <p:txBody>
          <a:bodyPr wrap="square" rtlCol="0" anchor="t"/>
          <a:lstStyle/>
          <a:p>
            <a:pPr marL="0" indent="0">
              <a:lnSpc>
                <a:spcPct val="130000"/>
              </a:lnSpc>
              <a:buNone/>
            </a:pPr>
            <a:r>
              <a:rPr lang="en-US" sz="1400" dirty="0">
                <a:solidFill>
                  <a:srgbClr val="1A1D2B"/>
                </a:solidFill>
                <a:latin typeface="Calibri" pitchFamily="34" charset="0"/>
                <a:ea typeface="Calibri" pitchFamily="34" charset="-122"/>
                <a:cs typeface="Calibri" pitchFamily="34" charset="-120"/>
              </a:rPr>
              <a:t>Attackers sent RSA employees an email titled “2011 Recruitment Plan” with a malicious Excel attachment. Despite landing in a junk folder, one employee opened it. A hidden zero-day exploit in Adobe Flash gave attackers a foothold, which they used to reach data tied to RSA's SecurID authentication tokens — used by thousands of organizations, including defense contractors.</a:t>
            </a:r>
            <a:endParaRPr lang="en-US" sz="1400" dirty="0"/>
          </a:p>
        </p:txBody>
      </p:sp>
      <p:sp>
        <p:nvSpPr>
          <p:cNvPr id="6" name="Shape 4"/>
          <p:cNvSpPr/>
          <p:nvPr/>
        </p:nvSpPr>
        <p:spPr>
          <a:xfrm>
            <a:off x="548640" y="5120640"/>
            <a:ext cx="6949440" cy="1051560"/>
          </a:xfrm>
          <a:prstGeom prst="roundRect">
            <a:avLst>
              <a:gd name="adj" fmla="val 8696"/>
            </a:avLst>
          </a:prstGeom>
          <a:solidFill>
            <a:srgbClr val="1E2761"/>
          </a:solidFill>
          <a:ln/>
        </p:spPr>
      </p:sp>
      <p:sp>
        <p:nvSpPr>
          <p:cNvPr id="7" name="Text 5"/>
          <p:cNvSpPr/>
          <p:nvPr/>
        </p:nvSpPr>
        <p:spPr>
          <a:xfrm>
            <a:off x="777240" y="5230368"/>
            <a:ext cx="1828800" cy="274320"/>
          </a:xfrm>
          <a:prstGeom prst="rect">
            <a:avLst/>
          </a:prstGeom>
          <a:noFill/>
          <a:ln/>
        </p:spPr>
        <p:txBody>
          <a:bodyPr wrap="square"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 LESSON</a:t>
            </a:r>
            <a:endParaRPr lang="en-US" sz="1000" dirty="0"/>
          </a:p>
        </p:txBody>
      </p:sp>
      <p:sp>
        <p:nvSpPr>
          <p:cNvPr id="8" name="Text 6"/>
          <p:cNvSpPr/>
          <p:nvPr/>
        </p:nvSpPr>
        <p:spPr>
          <a:xfrm>
            <a:off x="777240" y="5486400"/>
            <a:ext cx="6492240" cy="59436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Even a security company itself was breached through a single employee opening one attachment. Phishing defense is everyone's responsibility, not just IT's.</a:t>
            </a:r>
            <a:endParaRPr lang="en-US" sz="1200" dirty="0"/>
          </a:p>
        </p:txBody>
      </p:sp>
      <p:sp>
        <p:nvSpPr>
          <p:cNvPr id="9" name="Shape 7"/>
          <p:cNvSpPr/>
          <p:nvPr/>
        </p:nvSpPr>
        <p:spPr>
          <a:xfrm>
            <a:off x="7863840" y="1051560"/>
            <a:ext cx="3749040" cy="5120640"/>
          </a:xfrm>
          <a:prstGeom prst="roundRect">
            <a:avLst>
              <a:gd name="adj" fmla="val 2927"/>
            </a:avLst>
          </a:prstGeom>
          <a:solidFill>
            <a:srgbClr val="FFFFFF"/>
          </a:solidFill>
          <a:ln/>
          <a:effectLst>
            <a:outerShdw blurRad="76200" dist="25400" dir="5400000" algn="bl" rotWithShape="0">
              <a:srgbClr val="888888">
                <a:alpha val="20000"/>
              </a:srgbClr>
            </a:outerShdw>
          </a:effectLst>
        </p:spPr>
      </p:sp>
      <p:sp>
        <p:nvSpPr>
          <p:cNvPr id="10" name="Text 8"/>
          <p:cNvSpPr/>
          <p:nvPr/>
        </p:nvSpPr>
        <p:spPr>
          <a:xfrm>
            <a:off x="7863840" y="2377440"/>
            <a:ext cx="3749040" cy="1097280"/>
          </a:xfrm>
          <a:prstGeom prst="rect">
            <a:avLst/>
          </a:prstGeom>
          <a:noFill/>
          <a:ln/>
        </p:spPr>
        <p:txBody>
          <a:bodyPr wrap="square" rtlCol="0" anchor="ctr"/>
          <a:lstStyle/>
          <a:p>
            <a:pPr marL="0" indent="0" algn="ctr">
              <a:buNone/>
            </a:pPr>
            <a:r>
              <a:rPr lang="en-US" sz="4600" b="1" dirty="0">
                <a:solidFill>
                  <a:srgbClr val="E63946"/>
                </a:solidFill>
                <a:latin typeface="Cambria" pitchFamily="34" charset="0"/>
                <a:ea typeface="Cambria" pitchFamily="34" charset="-122"/>
                <a:cs typeface="Cambria" pitchFamily="34" charset="-120"/>
              </a:rPr>
              <a:t>1</a:t>
            </a:r>
            <a:endParaRPr lang="en-US" sz="4600" dirty="0"/>
          </a:p>
        </p:txBody>
      </p:sp>
      <p:sp>
        <p:nvSpPr>
          <p:cNvPr id="11" name="Text 9"/>
          <p:cNvSpPr/>
          <p:nvPr/>
        </p:nvSpPr>
        <p:spPr>
          <a:xfrm>
            <a:off x="8092440" y="3520440"/>
            <a:ext cx="3291840" cy="914400"/>
          </a:xfrm>
          <a:prstGeom prst="rect">
            <a:avLst/>
          </a:prstGeom>
          <a:noFill/>
          <a:ln/>
        </p:spPr>
        <p:txBody>
          <a:bodyPr wrap="square" rtlCol="0" anchor="ctr"/>
          <a:lstStyle/>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employee opened the</a:t>
            </a:r>
            <a:endParaRPr lang="en-US" sz="1300" dirty="0"/>
          </a:p>
          <a:p>
            <a:pPr marL="0" indent="0" algn="ctr">
              <a:lnSpc>
                <a:spcPct val="120000"/>
              </a:lnSpc>
              <a:buNone/>
            </a:pPr>
            <a:r>
              <a:rPr lang="en-US" sz="1300" dirty="0" smtClean="0">
                <a:solidFill>
                  <a:srgbClr val="1A1D2B"/>
                </a:solidFill>
                <a:latin typeface="Calibri" pitchFamily="34" charset="0"/>
                <a:ea typeface="Calibri" pitchFamily="34" charset="-122"/>
                <a:cs typeface="Calibri" pitchFamily="34" charset="-120"/>
              </a:rPr>
              <a:t>Attachment, and </a:t>
            </a:r>
            <a:r>
              <a:rPr lang="en-US" sz="1300" dirty="0">
                <a:solidFill>
                  <a:srgbClr val="1A1D2B"/>
                </a:solidFill>
                <a:latin typeface="Calibri" pitchFamily="34" charset="0"/>
                <a:ea typeface="Calibri" pitchFamily="34" charset="-122"/>
                <a:cs typeface="Calibri" pitchFamily="34" charset="-120"/>
              </a:rPr>
              <a:t>that's all</a:t>
            </a:r>
            <a:endParaRPr lang="en-US" sz="1300" dirty="0"/>
          </a:p>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it took</a:t>
            </a:r>
            <a:endParaRPr lang="en-US" sz="1300" dirty="0"/>
          </a:p>
        </p:txBody>
      </p:sp>
      <p:sp>
        <p:nvSpPr>
          <p:cNvPr id="12" name="Text 10"/>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48640" y="502920"/>
            <a:ext cx="2194560" cy="411480"/>
          </a:xfrm>
          <a:prstGeom prst="roundRect">
            <a:avLst>
              <a:gd name="adj" fmla="val 13333"/>
            </a:avLst>
          </a:prstGeom>
          <a:solidFill>
            <a:srgbClr val="E63946"/>
          </a:solidFill>
          <a:ln/>
        </p:spPr>
      </p:sp>
      <p:sp>
        <p:nvSpPr>
          <p:cNvPr id="3" name="Text 1"/>
          <p:cNvSpPr/>
          <p:nvPr/>
        </p:nvSpPr>
        <p:spPr>
          <a:xfrm>
            <a:off x="548640" y="502920"/>
            <a:ext cx="219456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CASE STUDY 3</a:t>
            </a:r>
            <a:endParaRPr lang="en-US" sz="1200" dirty="0"/>
          </a:p>
        </p:txBody>
      </p:sp>
      <p:sp>
        <p:nvSpPr>
          <p:cNvPr id="4" name="Text 2"/>
          <p:cNvSpPr/>
          <p:nvPr/>
        </p:nvSpPr>
        <p:spPr>
          <a:xfrm>
            <a:off x="548640" y="1051560"/>
            <a:ext cx="7315200" cy="914400"/>
          </a:xfrm>
          <a:prstGeom prst="rect">
            <a:avLst/>
          </a:prstGeom>
          <a:noFill/>
          <a:ln/>
        </p:spPr>
        <p:txBody>
          <a:bodyPr wrap="square" rtlCol="0" anchor="ctr"/>
          <a:lstStyle/>
          <a:p>
            <a:pPr marL="0" indent="0">
              <a:buNone/>
            </a:pPr>
            <a:r>
              <a:rPr lang="en-US" sz="2600" b="1" dirty="0">
                <a:solidFill>
                  <a:srgbClr val="1E2761"/>
                </a:solidFill>
                <a:latin typeface="Cambria" pitchFamily="34" charset="0"/>
                <a:ea typeface="Cambria" pitchFamily="34" charset="-122"/>
                <a:cs typeface="Cambria" pitchFamily="34" charset="-120"/>
              </a:rPr>
              <a:t>Uber's MFA Fatigue Attack (2022)</a:t>
            </a:r>
            <a:endParaRPr lang="en-US" sz="2600" dirty="0"/>
          </a:p>
        </p:txBody>
      </p:sp>
      <p:sp>
        <p:nvSpPr>
          <p:cNvPr id="5" name="Text 3"/>
          <p:cNvSpPr/>
          <p:nvPr/>
        </p:nvSpPr>
        <p:spPr>
          <a:xfrm>
            <a:off x="548640" y="2057400"/>
            <a:ext cx="6949440" cy="2926080"/>
          </a:xfrm>
          <a:prstGeom prst="rect">
            <a:avLst/>
          </a:prstGeom>
          <a:noFill/>
          <a:ln/>
        </p:spPr>
        <p:txBody>
          <a:bodyPr wrap="square" rtlCol="0" anchor="t"/>
          <a:lstStyle/>
          <a:p>
            <a:pPr marL="0" indent="0">
              <a:lnSpc>
                <a:spcPct val="130000"/>
              </a:lnSpc>
              <a:buNone/>
            </a:pPr>
            <a:r>
              <a:rPr lang="en-US" sz="1400" dirty="0">
                <a:solidFill>
                  <a:srgbClr val="1A1D2B"/>
                </a:solidFill>
                <a:latin typeface="Calibri" pitchFamily="34" charset="0"/>
                <a:ea typeface="Calibri" pitchFamily="34" charset="-122"/>
                <a:cs typeface="Calibri" pitchFamily="34" charset="-120"/>
              </a:rPr>
              <a:t>Attackers bought a contractor's stolen credentials on the dark web. Blocked by MFA, they bombarded the contractor with push notifications for over an hour. Once overwhelmed, the attacker contacted the contractor via WhatsApp, posing as Uber IT </a:t>
            </a:r>
            <a:r>
              <a:rPr lang="en-US" sz="1400" dirty="0" smtClean="0">
                <a:solidFill>
                  <a:srgbClr val="1A1D2B"/>
                </a:solidFill>
                <a:latin typeface="Calibri" pitchFamily="34" charset="0"/>
                <a:ea typeface="Calibri" pitchFamily="34" charset="-122"/>
                <a:cs typeface="Calibri" pitchFamily="34" charset="-120"/>
              </a:rPr>
              <a:t>support, </a:t>
            </a:r>
            <a:r>
              <a:rPr lang="en-US" sz="1400" dirty="0">
                <a:solidFill>
                  <a:srgbClr val="1A1D2B"/>
                </a:solidFill>
                <a:latin typeface="Calibri" pitchFamily="34" charset="0"/>
                <a:ea typeface="Calibri" pitchFamily="34" charset="-122"/>
                <a:cs typeface="Calibri" pitchFamily="34" charset="-120"/>
              </a:rPr>
              <a:t>and convinced them to approve one request, granting access to internal systems including Slack and AWS.</a:t>
            </a:r>
            <a:endParaRPr lang="en-US" sz="1400" dirty="0"/>
          </a:p>
        </p:txBody>
      </p:sp>
      <p:sp>
        <p:nvSpPr>
          <p:cNvPr id="6" name="Shape 4"/>
          <p:cNvSpPr/>
          <p:nvPr/>
        </p:nvSpPr>
        <p:spPr>
          <a:xfrm>
            <a:off x="548640" y="5120640"/>
            <a:ext cx="6949440" cy="1051560"/>
          </a:xfrm>
          <a:prstGeom prst="roundRect">
            <a:avLst>
              <a:gd name="adj" fmla="val 8696"/>
            </a:avLst>
          </a:prstGeom>
          <a:solidFill>
            <a:srgbClr val="1E2761"/>
          </a:solidFill>
          <a:ln/>
        </p:spPr>
      </p:sp>
      <p:sp>
        <p:nvSpPr>
          <p:cNvPr id="7" name="Text 5"/>
          <p:cNvSpPr/>
          <p:nvPr/>
        </p:nvSpPr>
        <p:spPr>
          <a:xfrm>
            <a:off x="777240" y="5230368"/>
            <a:ext cx="1828800" cy="274320"/>
          </a:xfrm>
          <a:prstGeom prst="rect">
            <a:avLst/>
          </a:prstGeom>
          <a:noFill/>
          <a:ln/>
        </p:spPr>
        <p:txBody>
          <a:bodyPr wrap="square" rtlCol="0" anchor="ctr"/>
          <a:lstStyle/>
          <a:p>
            <a:pPr marL="0" indent="0">
              <a:buNone/>
            </a:pPr>
            <a:r>
              <a:rPr lang="en-US" sz="1000" b="1" dirty="0">
                <a:solidFill>
                  <a:srgbClr val="CADCFC"/>
                </a:solidFill>
                <a:latin typeface="Calibri" pitchFamily="34" charset="0"/>
                <a:ea typeface="Calibri" pitchFamily="34" charset="-122"/>
                <a:cs typeface="Calibri" pitchFamily="34" charset="-120"/>
              </a:rPr>
              <a:t>💡 LESSON</a:t>
            </a:r>
            <a:endParaRPr lang="en-US" sz="1000" dirty="0"/>
          </a:p>
        </p:txBody>
      </p:sp>
      <p:sp>
        <p:nvSpPr>
          <p:cNvPr id="8" name="Text 6"/>
          <p:cNvSpPr/>
          <p:nvPr/>
        </p:nvSpPr>
        <p:spPr>
          <a:xfrm>
            <a:off x="777240" y="5486400"/>
            <a:ext cx="6492240" cy="594360"/>
          </a:xfrm>
          <a:prstGeom prst="rect">
            <a:avLst/>
          </a:prstGeom>
          <a:noFill/>
          <a:ln/>
        </p:spPr>
        <p:txBody>
          <a:bodyPr wrap="square"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MFA is powerful, but not unbeatable. Never approve an MFA request you didn't personally </a:t>
            </a:r>
            <a:r>
              <a:rPr lang="en-US" sz="1200" dirty="0" smtClean="0">
                <a:solidFill>
                  <a:srgbClr val="FFFFFF"/>
                </a:solidFill>
                <a:latin typeface="Calibri" pitchFamily="34" charset="0"/>
                <a:ea typeface="Calibri" pitchFamily="34" charset="-122"/>
                <a:cs typeface="Calibri" pitchFamily="34" charset="-120"/>
              </a:rPr>
              <a:t>trigger. It is a good security measure to </a:t>
            </a:r>
            <a:r>
              <a:rPr lang="en-US" sz="1200" dirty="0">
                <a:solidFill>
                  <a:srgbClr val="FFFFFF"/>
                </a:solidFill>
                <a:latin typeface="Calibri" pitchFamily="34" charset="0"/>
                <a:ea typeface="Calibri" pitchFamily="34" charset="-122"/>
                <a:cs typeface="Calibri" pitchFamily="34" charset="-120"/>
              </a:rPr>
              <a:t>verify unexpected “IT” contact through a separate, known channel.</a:t>
            </a:r>
            <a:endParaRPr lang="en-US" sz="1200" dirty="0"/>
          </a:p>
        </p:txBody>
      </p:sp>
      <p:sp>
        <p:nvSpPr>
          <p:cNvPr id="9" name="Shape 7"/>
          <p:cNvSpPr/>
          <p:nvPr/>
        </p:nvSpPr>
        <p:spPr>
          <a:xfrm>
            <a:off x="7863840" y="1051560"/>
            <a:ext cx="3749040" cy="5120640"/>
          </a:xfrm>
          <a:prstGeom prst="roundRect">
            <a:avLst>
              <a:gd name="adj" fmla="val 2927"/>
            </a:avLst>
          </a:prstGeom>
          <a:solidFill>
            <a:srgbClr val="FFFFFF"/>
          </a:solidFill>
          <a:ln/>
          <a:effectLst>
            <a:outerShdw blurRad="76200" dist="25400" dir="5400000" algn="bl" rotWithShape="0">
              <a:srgbClr val="888888">
                <a:alpha val="20000"/>
              </a:srgbClr>
            </a:outerShdw>
          </a:effectLst>
        </p:spPr>
      </p:sp>
      <p:sp>
        <p:nvSpPr>
          <p:cNvPr id="10" name="Text 8"/>
          <p:cNvSpPr/>
          <p:nvPr/>
        </p:nvSpPr>
        <p:spPr>
          <a:xfrm>
            <a:off x="7863840" y="2377440"/>
            <a:ext cx="3749040" cy="1097280"/>
          </a:xfrm>
          <a:prstGeom prst="rect">
            <a:avLst/>
          </a:prstGeom>
          <a:noFill/>
          <a:ln/>
        </p:spPr>
        <p:txBody>
          <a:bodyPr wrap="square" rtlCol="0" anchor="ctr"/>
          <a:lstStyle/>
          <a:p>
            <a:pPr marL="0" indent="0" algn="ctr">
              <a:buNone/>
            </a:pPr>
            <a:r>
              <a:rPr lang="en-US" sz="4600" b="1" dirty="0">
                <a:solidFill>
                  <a:srgbClr val="E63946"/>
                </a:solidFill>
                <a:latin typeface="Cambria" pitchFamily="34" charset="0"/>
                <a:ea typeface="Cambria" pitchFamily="34" charset="-122"/>
                <a:cs typeface="Cambria" pitchFamily="34" charset="-120"/>
              </a:rPr>
              <a:t>1 hour</a:t>
            </a:r>
            <a:endParaRPr lang="en-US" sz="4600" dirty="0"/>
          </a:p>
        </p:txBody>
      </p:sp>
      <p:sp>
        <p:nvSpPr>
          <p:cNvPr id="11" name="Text 9"/>
          <p:cNvSpPr/>
          <p:nvPr/>
        </p:nvSpPr>
        <p:spPr>
          <a:xfrm>
            <a:off x="8092440" y="3520440"/>
            <a:ext cx="3291840" cy="914400"/>
          </a:xfrm>
          <a:prstGeom prst="rect">
            <a:avLst/>
          </a:prstGeom>
          <a:noFill/>
          <a:ln/>
        </p:spPr>
        <p:txBody>
          <a:bodyPr wrap="square" rtlCol="0" anchor="ctr"/>
          <a:lstStyle/>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of repeated MFA push</a:t>
            </a:r>
            <a:endParaRPr lang="en-US" sz="1300" dirty="0"/>
          </a:p>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notifications wore down</a:t>
            </a:r>
            <a:endParaRPr lang="en-US" sz="1300" dirty="0"/>
          </a:p>
          <a:p>
            <a:pPr marL="0" indent="0" algn="ctr">
              <a:lnSpc>
                <a:spcPct val="120000"/>
              </a:lnSpc>
              <a:buNone/>
            </a:pPr>
            <a:r>
              <a:rPr lang="en-US" sz="1300" dirty="0">
                <a:solidFill>
                  <a:srgbClr val="1A1D2B"/>
                </a:solidFill>
                <a:latin typeface="Calibri" pitchFamily="34" charset="0"/>
                <a:ea typeface="Calibri" pitchFamily="34" charset="-122"/>
                <a:cs typeface="Calibri" pitchFamily="34" charset="-120"/>
              </a:rPr>
              <a:t>one contractor</a:t>
            </a:r>
            <a:endParaRPr lang="en-US" sz="1300" dirty="0"/>
          </a:p>
        </p:txBody>
      </p:sp>
      <p:sp>
        <p:nvSpPr>
          <p:cNvPr id="12" name="Text 10"/>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13" name="Text 1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rtlCol="0" anchor="ctr"/>
          <a:lstStyle/>
          <a:p>
            <a:pPr marL="0" indent="0">
              <a:buNone/>
            </a:pPr>
            <a:r>
              <a:rPr lang="en-US" sz="3200" b="1" dirty="0">
                <a:solidFill>
                  <a:srgbClr val="1E2761"/>
                </a:solidFill>
                <a:latin typeface="Cambria" pitchFamily="34" charset="0"/>
                <a:ea typeface="Cambria" pitchFamily="34" charset="-122"/>
                <a:cs typeface="Cambria" pitchFamily="34" charset="-120"/>
              </a:rPr>
              <a:t>Best Practices Checklist</a:t>
            </a:r>
            <a:endParaRPr lang="en-US" sz="3200" dirty="0"/>
          </a:p>
        </p:txBody>
      </p:sp>
      <p:sp>
        <p:nvSpPr>
          <p:cNvPr id="3" name="Shape 1"/>
          <p:cNvSpPr/>
          <p:nvPr/>
        </p:nvSpPr>
        <p:spPr>
          <a:xfrm>
            <a:off x="548640" y="1554480"/>
            <a:ext cx="320040" cy="320040"/>
          </a:xfrm>
          <a:prstGeom prst="roundRect">
            <a:avLst>
              <a:gd name="adj" fmla="val 17143"/>
            </a:avLst>
          </a:prstGeom>
          <a:solidFill>
            <a:srgbClr val="1E2761"/>
          </a:solidFill>
          <a:ln/>
        </p:spPr>
      </p:sp>
      <p:sp>
        <p:nvSpPr>
          <p:cNvPr id="4" name="Text 2"/>
          <p:cNvSpPr/>
          <p:nvPr/>
        </p:nvSpPr>
        <p:spPr>
          <a:xfrm>
            <a:off x="548640" y="15544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5" name="Text 3"/>
          <p:cNvSpPr/>
          <p:nvPr/>
        </p:nvSpPr>
        <p:spPr>
          <a:xfrm>
            <a:off x="1005840" y="14996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Pause when a message creates urgency or pressure</a:t>
            </a:r>
            <a:endParaRPr lang="en-US" sz="1400" dirty="0"/>
          </a:p>
        </p:txBody>
      </p:sp>
      <p:sp>
        <p:nvSpPr>
          <p:cNvPr id="6" name="Shape 4"/>
          <p:cNvSpPr/>
          <p:nvPr/>
        </p:nvSpPr>
        <p:spPr>
          <a:xfrm>
            <a:off x="548640" y="2468880"/>
            <a:ext cx="320040" cy="320040"/>
          </a:xfrm>
          <a:prstGeom prst="roundRect">
            <a:avLst>
              <a:gd name="adj" fmla="val 17143"/>
            </a:avLst>
          </a:prstGeom>
          <a:solidFill>
            <a:srgbClr val="1E2761"/>
          </a:solidFill>
          <a:ln/>
        </p:spPr>
      </p:sp>
      <p:sp>
        <p:nvSpPr>
          <p:cNvPr id="7" name="Text 5"/>
          <p:cNvSpPr/>
          <p:nvPr/>
        </p:nvSpPr>
        <p:spPr>
          <a:xfrm>
            <a:off x="548640" y="24688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8" name="Text 6"/>
          <p:cNvSpPr/>
          <p:nvPr/>
        </p:nvSpPr>
        <p:spPr>
          <a:xfrm>
            <a:off x="1005840" y="24140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Verify the sender's actual email address</a:t>
            </a:r>
            <a:endParaRPr lang="en-US" sz="1400" dirty="0"/>
          </a:p>
        </p:txBody>
      </p:sp>
      <p:sp>
        <p:nvSpPr>
          <p:cNvPr id="9" name="Shape 7"/>
          <p:cNvSpPr/>
          <p:nvPr/>
        </p:nvSpPr>
        <p:spPr>
          <a:xfrm>
            <a:off x="548640" y="3383280"/>
            <a:ext cx="320040" cy="320040"/>
          </a:xfrm>
          <a:prstGeom prst="roundRect">
            <a:avLst>
              <a:gd name="adj" fmla="val 17143"/>
            </a:avLst>
          </a:prstGeom>
          <a:solidFill>
            <a:srgbClr val="1E2761"/>
          </a:solidFill>
          <a:ln/>
        </p:spPr>
      </p:sp>
      <p:sp>
        <p:nvSpPr>
          <p:cNvPr id="10" name="Text 8"/>
          <p:cNvSpPr/>
          <p:nvPr/>
        </p:nvSpPr>
        <p:spPr>
          <a:xfrm>
            <a:off x="548640" y="33832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Text 9"/>
          <p:cNvSpPr/>
          <p:nvPr/>
        </p:nvSpPr>
        <p:spPr>
          <a:xfrm>
            <a:off x="1005840" y="33284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Hover over links before clicking to preview the destination</a:t>
            </a:r>
            <a:endParaRPr lang="en-US" sz="1400" dirty="0"/>
          </a:p>
        </p:txBody>
      </p:sp>
      <p:sp>
        <p:nvSpPr>
          <p:cNvPr id="12" name="Shape 10"/>
          <p:cNvSpPr/>
          <p:nvPr/>
        </p:nvSpPr>
        <p:spPr>
          <a:xfrm>
            <a:off x="548640" y="4297680"/>
            <a:ext cx="320040" cy="320040"/>
          </a:xfrm>
          <a:prstGeom prst="roundRect">
            <a:avLst>
              <a:gd name="adj" fmla="val 17143"/>
            </a:avLst>
          </a:prstGeom>
          <a:solidFill>
            <a:srgbClr val="1E2761"/>
          </a:solidFill>
          <a:ln/>
        </p:spPr>
      </p:sp>
      <p:sp>
        <p:nvSpPr>
          <p:cNvPr id="13" name="Text 11"/>
          <p:cNvSpPr/>
          <p:nvPr/>
        </p:nvSpPr>
        <p:spPr>
          <a:xfrm>
            <a:off x="548640" y="42976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p:nvPr/>
        </p:nvSpPr>
        <p:spPr>
          <a:xfrm>
            <a:off x="1005840" y="42428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Type known URLs manually instead of clicking email links</a:t>
            </a:r>
            <a:endParaRPr lang="en-US" sz="1400" dirty="0"/>
          </a:p>
        </p:txBody>
      </p:sp>
      <p:sp>
        <p:nvSpPr>
          <p:cNvPr id="15" name="Shape 13"/>
          <p:cNvSpPr/>
          <p:nvPr/>
        </p:nvSpPr>
        <p:spPr>
          <a:xfrm>
            <a:off x="548640" y="5212080"/>
            <a:ext cx="320040" cy="320040"/>
          </a:xfrm>
          <a:prstGeom prst="roundRect">
            <a:avLst>
              <a:gd name="adj" fmla="val 17143"/>
            </a:avLst>
          </a:prstGeom>
          <a:solidFill>
            <a:srgbClr val="1E2761"/>
          </a:solidFill>
          <a:ln/>
        </p:spPr>
      </p:sp>
      <p:sp>
        <p:nvSpPr>
          <p:cNvPr id="16" name="Text 14"/>
          <p:cNvSpPr/>
          <p:nvPr/>
        </p:nvSpPr>
        <p:spPr>
          <a:xfrm>
            <a:off x="548640" y="52120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7" name="Text 15"/>
          <p:cNvSpPr/>
          <p:nvPr/>
        </p:nvSpPr>
        <p:spPr>
          <a:xfrm>
            <a:off x="1005840" y="51572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Never send passwords or card numbers by email</a:t>
            </a:r>
            <a:endParaRPr lang="en-US" sz="1400" dirty="0"/>
          </a:p>
        </p:txBody>
      </p:sp>
      <p:sp>
        <p:nvSpPr>
          <p:cNvPr id="18" name="Shape 16"/>
          <p:cNvSpPr/>
          <p:nvPr/>
        </p:nvSpPr>
        <p:spPr>
          <a:xfrm>
            <a:off x="6309360" y="1554480"/>
            <a:ext cx="320040" cy="320040"/>
          </a:xfrm>
          <a:prstGeom prst="roundRect">
            <a:avLst>
              <a:gd name="adj" fmla="val 17143"/>
            </a:avLst>
          </a:prstGeom>
          <a:solidFill>
            <a:srgbClr val="1E2761"/>
          </a:solidFill>
          <a:ln/>
        </p:spPr>
      </p:sp>
      <p:sp>
        <p:nvSpPr>
          <p:cNvPr id="19" name="Text 17"/>
          <p:cNvSpPr/>
          <p:nvPr/>
        </p:nvSpPr>
        <p:spPr>
          <a:xfrm>
            <a:off x="6309360" y="15544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0" name="Text 18"/>
          <p:cNvSpPr/>
          <p:nvPr/>
        </p:nvSpPr>
        <p:spPr>
          <a:xfrm>
            <a:off x="6766560" y="14996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Enable multi-factor authentication everywhere possible</a:t>
            </a:r>
            <a:endParaRPr lang="en-US" sz="1400" dirty="0"/>
          </a:p>
        </p:txBody>
      </p:sp>
      <p:sp>
        <p:nvSpPr>
          <p:cNvPr id="21" name="Shape 19"/>
          <p:cNvSpPr/>
          <p:nvPr/>
        </p:nvSpPr>
        <p:spPr>
          <a:xfrm>
            <a:off x="6309360" y="2468880"/>
            <a:ext cx="320040" cy="320040"/>
          </a:xfrm>
          <a:prstGeom prst="roundRect">
            <a:avLst>
              <a:gd name="adj" fmla="val 17143"/>
            </a:avLst>
          </a:prstGeom>
          <a:solidFill>
            <a:srgbClr val="1E2761"/>
          </a:solidFill>
          <a:ln/>
        </p:spPr>
      </p:sp>
      <p:sp>
        <p:nvSpPr>
          <p:cNvPr id="22" name="Text 20"/>
          <p:cNvSpPr/>
          <p:nvPr/>
        </p:nvSpPr>
        <p:spPr>
          <a:xfrm>
            <a:off x="6309360" y="24688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3" name="Text 21"/>
          <p:cNvSpPr/>
          <p:nvPr/>
        </p:nvSpPr>
        <p:spPr>
          <a:xfrm>
            <a:off x="6766560" y="24140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Use a password </a:t>
            </a:r>
            <a:r>
              <a:rPr lang="en-US" sz="1400" dirty="0" smtClean="0">
                <a:solidFill>
                  <a:srgbClr val="1A1D2B"/>
                </a:solidFill>
                <a:latin typeface="Calibri" pitchFamily="34" charset="0"/>
                <a:ea typeface="Calibri" pitchFamily="34" charset="-122"/>
                <a:cs typeface="Calibri" pitchFamily="34" charset="-120"/>
              </a:rPr>
              <a:t>manager. </a:t>
            </a:r>
            <a:r>
              <a:rPr lang="en-US" sz="1400" dirty="0">
                <a:solidFill>
                  <a:srgbClr val="1A1D2B"/>
                </a:solidFill>
                <a:latin typeface="Calibri" pitchFamily="34" charset="0"/>
                <a:ea typeface="Calibri" pitchFamily="34" charset="-122"/>
                <a:cs typeface="Calibri" pitchFamily="34" charset="-120"/>
              </a:rPr>
              <a:t>I</a:t>
            </a:r>
            <a:r>
              <a:rPr lang="en-US" sz="1400" dirty="0" smtClean="0">
                <a:solidFill>
                  <a:srgbClr val="1A1D2B"/>
                </a:solidFill>
                <a:latin typeface="Calibri" pitchFamily="34" charset="0"/>
                <a:ea typeface="Calibri" pitchFamily="34" charset="-122"/>
                <a:cs typeface="Calibri" pitchFamily="34" charset="-120"/>
              </a:rPr>
              <a:t>t </a:t>
            </a:r>
            <a:r>
              <a:rPr lang="en-US" sz="1400" dirty="0">
                <a:solidFill>
                  <a:srgbClr val="1A1D2B"/>
                </a:solidFill>
                <a:latin typeface="Calibri" pitchFamily="34" charset="0"/>
                <a:ea typeface="Calibri" pitchFamily="34" charset="-122"/>
                <a:cs typeface="Calibri" pitchFamily="34" charset="-120"/>
              </a:rPr>
              <a:t>won't autofill on fake sites</a:t>
            </a:r>
            <a:endParaRPr lang="en-US" sz="1400" dirty="0"/>
          </a:p>
        </p:txBody>
      </p:sp>
      <p:sp>
        <p:nvSpPr>
          <p:cNvPr id="24" name="Shape 22"/>
          <p:cNvSpPr/>
          <p:nvPr/>
        </p:nvSpPr>
        <p:spPr>
          <a:xfrm>
            <a:off x="6309360" y="3383280"/>
            <a:ext cx="320040" cy="320040"/>
          </a:xfrm>
          <a:prstGeom prst="roundRect">
            <a:avLst>
              <a:gd name="adj" fmla="val 17143"/>
            </a:avLst>
          </a:prstGeom>
          <a:solidFill>
            <a:srgbClr val="1E2761"/>
          </a:solidFill>
          <a:ln/>
        </p:spPr>
      </p:sp>
      <p:sp>
        <p:nvSpPr>
          <p:cNvPr id="25" name="Text 23"/>
          <p:cNvSpPr/>
          <p:nvPr/>
        </p:nvSpPr>
        <p:spPr>
          <a:xfrm>
            <a:off x="6309360" y="33832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p:nvPr/>
        </p:nvSpPr>
        <p:spPr>
          <a:xfrm>
            <a:off x="6766560" y="33284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Keep software and browsers updated</a:t>
            </a:r>
            <a:endParaRPr lang="en-US" sz="1400" dirty="0"/>
          </a:p>
        </p:txBody>
      </p:sp>
      <p:sp>
        <p:nvSpPr>
          <p:cNvPr id="27" name="Shape 25"/>
          <p:cNvSpPr/>
          <p:nvPr/>
        </p:nvSpPr>
        <p:spPr>
          <a:xfrm>
            <a:off x="6309360" y="4297680"/>
            <a:ext cx="320040" cy="320040"/>
          </a:xfrm>
          <a:prstGeom prst="roundRect">
            <a:avLst>
              <a:gd name="adj" fmla="val 17143"/>
            </a:avLst>
          </a:prstGeom>
          <a:solidFill>
            <a:srgbClr val="1E2761"/>
          </a:solidFill>
          <a:ln/>
        </p:spPr>
      </p:sp>
      <p:sp>
        <p:nvSpPr>
          <p:cNvPr id="28" name="Text 26"/>
          <p:cNvSpPr/>
          <p:nvPr/>
        </p:nvSpPr>
        <p:spPr>
          <a:xfrm>
            <a:off x="6309360" y="42976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9" name="Text 27"/>
          <p:cNvSpPr/>
          <p:nvPr/>
        </p:nvSpPr>
        <p:spPr>
          <a:xfrm>
            <a:off x="6766560" y="42428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Report suspicious emails through official channels</a:t>
            </a:r>
            <a:endParaRPr lang="en-US" sz="1400" dirty="0"/>
          </a:p>
        </p:txBody>
      </p:sp>
      <p:sp>
        <p:nvSpPr>
          <p:cNvPr id="30" name="Shape 28"/>
          <p:cNvSpPr/>
          <p:nvPr/>
        </p:nvSpPr>
        <p:spPr>
          <a:xfrm>
            <a:off x="6309360" y="5212080"/>
            <a:ext cx="320040" cy="320040"/>
          </a:xfrm>
          <a:prstGeom prst="roundRect">
            <a:avLst>
              <a:gd name="adj" fmla="val 17143"/>
            </a:avLst>
          </a:prstGeom>
          <a:solidFill>
            <a:srgbClr val="1E2761"/>
          </a:solidFill>
          <a:ln/>
        </p:spPr>
      </p:sp>
      <p:sp>
        <p:nvSpPr>
          <p:cNvPr id="31" name="Text 29"/>
          <p:cNvSpPr/>
          <p:nvPr/>
        </p:nvSpPr>
        <p:spPr>
          <a:xfrm>
            <a:off x="6309360" y="5212080"/>
            <a:ext cx="320040" cy="32004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32" name="Text 30"/>
          <p:cNvSpPr/>
          <p:nvPr/>
        </p:nvSpPr>
        <p:spPr>
          <a:xfrm>
            <a:off x="6766560" y="5157216"/>
            <a:ext cx="4937760" cy="777240"/>
          </a:xfrm>
          <a:prstGeom prst="rect">
            <a:avLst/>
          </a:prstGeom>
          <a:noFill/>
          <a:ln/>
        </p:spPr>
        <p:txBody>
          <a:bodyPr wrap="square" rtlCol="0" anchor="t"/>
          <a:lstStyle/>
          <a:p>
            <a:pPr marL="0" indent="0">
              <a:lnSpc>
                <a:spcPct val="115000"/>
              </a:lnSpc>
              <a:buNone/>
            </a:pPr>
            <a:r>
              <a:rPr lang="en-US" sz="1400" dirty="0">
                <a:solidFill>
                  <a:srgbClr val="1A1D2B"/>
                </a:solidFill>
                <a:latin typeface="Calibri" pitchFamily="34" charset="0"/>
                <a:ea typeface="Calibri" pitchFamily="34" charset="-122"/>
                <a:cs typeface="Calibri" pitchFamily="34" charset="-120"/>
              </a:rPr>
              <a:t>Verify unusual requests through a second, separate channel</a:t>
            </a:r>
            <a:endParaRPr lang="en-US" sz="1400" dirty="0"/>
          </a:p>
        </p:txBody>
      </p:sp>
      <p:sp>
        <p:nvSpPr>
          <p:cNvPr id="33" name="Text 31"/>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1828800" y="-1828800"/>
            <a:ext cx="4572000" cy="4572000"/>
          </a:xfrm>
          <a:prstGeom prst="ellipse">
            <a:avLst/>
          </a:prstGeom>
          <a:solidFill>
            <a:srgbClr val="1E2761"/>
          </a:solidFill>
          <a:ln/>
        </p:spPr>
      </p:sp>
      <p:sp>
        <p:nvSpPr>
          <p:cNvPr id="3" name="Text 1"/>
          <p:cNvSpPr/>
          <p:nvPr/>
        </p:nvSpPr>
        <p:spPr>
          <a:xfrm>
            <a:off x="548640" y="1828800"/>
            <a:ext cx="10972800" cy="548640"/>
          </a:xfrm>
          <a:prstGeom prst="rect">
            <a:avLst/>
          </a:prstGeom>
          <a:noFill/>
          <a:ln/>
        </p:spPr>
        <p:txBody>
          <a:bodyPr wrap="square" rtlCol="0" anchor="ctr"/>
          <a:lstStyle/>
          <a:p>
            <a:pPr marL="0" indent="0" algn="ctr">
              <a:buNone/>
            </a:pPr>
            <a:r>
              <a:rPr lang="en-US" sz="1800" dirty="0">
                <a:solidFill>
                  <a:srgbClr val="CADCFC"/>
                </a:solidFill>
                <a:latin typeface="Calibri" pitchFamily="34" charset="0"/>
                <a:ea typeface="Calibri" pitchFamily="34" charset="-122"/>
                <a:cs typeface="Calibri" pitchFamily="34" charset="-120"/>
              </a:rPr>
              <a:t>If you remember only ONE thing:</a:t>
            </a:r>
            <a:endParaRPr lang="en-US" sz="1800" dirty="0"/>
          </a:p>
        </p:txBody>
      </p:sp>
      <p:sp>
        <p:nvSpPr>
          <p:cNvPr id="4" name="Text 2"/>
          <p:cNvSpPr/>
          <p:nvPr/>
        </p:nvSpPr>
        <p:spPr>
          <a:xfrm>
            <a:off x="822960" y="2560320"/>
            <a:ext cx="10515600" cy="146304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“When in doubt, don't </a:t>
            </a:r>
            <a:r>
              <a:rPr lang="en-US" sz="3400" b="1" dirty="0" smtClean="0">
                <a:solidFill>
                  <a:srgbClr val="FFFFFF"/>
                </a:solidFill>
                <a:latin typeface="Cambria" pitchFamily="34" charset="0"/>
                <a:ea typeface="Cambria" pitchFamily="34" charset="-122"/>
                <a:cs typeface="Cambria" pitchFamily="34" charset="-120"/>
              </a:rPr>
              <a:t>click. </a:t>
            </a:r>
            <a:r>
              <a:rPr lang="en-US" sz="3400" b="1" dirty="0">
                <a:solidFill>
                  <a:srgbClr val="FFFFFF"/>
                </a:solidFill>
                <a:latin typeface="Cambria" pitchFamily="34" charset="0"/>
                <a:ea typeface="Cambria" pitchFamily="34" charset="-122"/>
                <a:cs typeface="Cambria" pitchFamily="34" charset="-120"/>
              </a:rPr>
              <a:t>V</a:t>
            </a:r>
            <a:r>
              <a:rPr lang="en-US" sz="3400" b="1" dirty="0" smtClean="0">
                <a:solidFill>
                  <a:srgbClr val="FFFFFF"/>
                </a:solidFill>
                <a:latin typeface="Cambria" pitchFamily="34" charset="0"/>
                <a:ea typeface="Cambria" pitchFamily="34" charset="-122"/>
                <a:cs typeface="Cambria" pitchFamily="34" charset="-120"/>
              </a:rPr>
              <a:t>erify </a:t>
            </a:r>
            <a:r>
              <a:rPr lang="en-US" sz="3400" b="1" dirty="0">
                <a:solidFill>
                  <a:srgbClr val="FFFFFF"/>
                </a:solidFill>
                <a:latin typeface="Cambria" pitchFamily="34" charset="0"/>
                <a:ea typeface="Cambria" pitchFamily="34" charset="-122"/>
                <a:cs typeface="Cambria" pitchFamily="34" charset="-120"/>
              </a:rPr>
              <a:t>independently.”</a:t>
            </a:r>
            <a:endParaRPr lang="en-US" sz="3400" dirty="0"/>
          </a:p>
        </p:txBody>
      </p:sp>
      <p:sp>
        <p:nvSpPr>
          <p:cNvPr id="5" name="Text 3"/>
          <p:cNvSpPr/>
          <p:nvPr/>
        </p:nvSpPr>
        <p:spPr>
          <a:xfrm>
            <a:off x="1737360" y="4297680"/>
            <a:ext cx="8686800" cy="822960"/>
          </a:xfrm>
          <a:prstGeom prst="rect">
            <a:avLst/>
          </a:prstGeom>
          <a:noFill/>
          <a:ln/>
        </p:spPr>
        <p:txBody>
          <a:bodyPr wrap="square" rtlCol="0" anchor="ctr"/>
          <a:lstStyle/>
          <a:p>
            <a:pPr marL="0" indent="0" algn="ctr">
              <a:lnSpc>
                <a:spcPct val="130000"/>
              </a:lnSpc>
              <a:buNone/>
            </a:pPr>
            <a:r>
              <a:rPr lang="en-US" sz="1400" i="1" dirty="0">
                <a:solidFill>
                  <a:srgbClr val="CADCFC"/>
                </a:solidFill>
                <a:latin typeface="Calibri" pitchFamily="34" charset="0"/>
                <a:ea typeface="Calibri" pitchFamily="34" charset="-122"/>
                <a:cs typeface="Calibri" pitchFamily="34" charset="-120"/>
              </a:rPr>
              <a:t>Every technical trick attackers use is defeated by this one </a:t>
            </a:r>
            <a:r>
              <a:rPr lang="en-US" sz="1400" i="1" dirty="0" smtClean="0">
                <a:solidFill>
                  <a:srgbClr val="CADCFC"/>
                </a:solidFill>
                <a:latin typeface="Calibri" pitchFamily="34" charset="0"/>
                <a:ea typeface="Calibri" pitchFamily="34" charset="-122"/>
                <a:cs typeface="Calibri" pitchFamily="34" charset="-120"/>
              </a:rPr>
              <a:t>habit, this is </a:t>
            </a:r>
            <a:r>
              <a:rPr lang="en-US" sz="1400" i="1" dirty="0">
                <a:solidFill>
                  <a:srgbClr val="CADCFC"/>
                </a:solidFill>
                <a:latin typeface="Calibri" pitchFamily="34" charset="0"/>
                <a:ea typeface="Calibri" pitchFamily="34" charset="-122"/>
                <a:cs typeface="Calibri" pitchFamily="34" charset="-120"/>
              </a:rPr>
              <a:t>because it removes their ability to control what you interact with.</a:t>
            </a:r>
            <a:endParaRPr lang="en-US" sz="1400" dirty="0"/>
          </a:p>
        </p:txBody>
      </p:sp>
      <p:sp>
        <p:nvSpPr>
          <p:cNvPr id="6" name="Text 4"/>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7" name="Text 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C"/>
        </a:solidFill>
        <a:effectLst/>
      </p:bgPr>
    </p:bg>
    <p:spTree>
      <p:nvGrpSpPr>
        <p:cNvPr id="1" name=""/>
        <p:cNvGrpSpPr/>
        <p:nvPr/>
      </p:nvGrpSpPr>
      <p:grpSpPr>
        <a:xfrm>
          <a:off x="0" y="0"/>
          <a:ext cx="0" cy="0"/>
          <a:chOff x="0" y="0"/>
          <a:chExt cx="0" cy="0"/>
        </a:xfrm>
      </p:grpSpPr>
      <p:sp>
        <p:nvSpPr>
          <p:cNvPr id="2" name="Shape 0"/>
          <p:cNvSpPr/>
          <p:nvPr/>
        </p:nvSpPr>
        <p:spPr>
          <a:xfrm>
            <a:off x="5166360" y="1005840"/>
            <a:ext cx="914400" cy="914400"/>
          </a:xfrm>
          <a:prstGeom prst="ellipse">
            <a:avLst/>
          </a:prstGeom>
          <a:solidFill>
            <a:srgbClr val="E63946"/>
          </a:solidFill>
          <a:ln/>
        </p:spPr>
      </p:sp>
      <p:sp>
        <p:nvSpPr>
          <p:cNvPr id="3" name="Text 1"/>
          <p:cNvSpPr/>
          <p:nvPr/>
        </p:nvSpPr>
        <p:spPr>
          <a:xfrm>
            <a:off x="5166360" y="1005840"/>
            <a:ext cx="914400" cy="91440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t>
            </a:r>
            <a:endParaRPr lang="en-US" sz="2800" dirty="0"/>
          </a:p>
        </p:txBody>
      </p:sp>
      <p:sp>
        <p:nvSpPr>
          <p:cNvPr id="4" name="Text 2"/>
          <p:cNvSpPr/>
          <p:nvPr/>
        </p:nvSpPr>
        <p:spPr>
          <a:xfrm>
            <a:off x="548640" y="2103120"/>
            <a:ext cx="11064240" cy="640080"/>
          </a:xfrm>
          <a:prstGeom prst="rect">
            <a:avLst/>
          </a:prstGeom>
          <a:noFill/>
          <a:ln/>
        </p:spPr>
        <p:txBody>
          <a:bodyPr wrap="square" rtlCol="0" anchor="ctr"/>
          <a:lstStyle/>
          <a:p>
            <a:pPr marL="0" indent="0" algn="ctr">
              <a:buNone/>
            </a:pPr>
            <a:r>
              <a:rPr lang="en-US" sz="3200" b="1" dirty="0">
                <a:solidFill>
                  <a:srgbClr val="1E2761"/>
                </a:solidFill>
                <a:latin typeface="Cambria" pitchFamily="34" charset="0"/>
                <a:ea typeface="Cambria" pitchFamily="34" charset="-122"/>
                <a:cs typeface="Cambria" pitchFamily="34" charset="-120"/>
              </a:rPr>
              <a:t>Test Your Knowledge</a:t>
            </a:r>
            <a:endParaRPr lang="en-US" sz="3200" dirty="0"/>
          </a:p>
        </p:txBody>
      </p:sp>
      <p:sp>
        <p:nvSpPr>
          <p:cNvPr id="5" name="Text 3"/>
          <p:cNvSpPr/>
          <p:nvPr/>
        </p:nvSpPr>
        <p:spPr>
          <a:xfrm>
            <a:off x="1737360" y="2834640"/>
            <a:ext cx="8686800" cy="731520"/>
          </a:xfrm>
          <a:prstGeom prst="rect">
            <a:avLst/>
          </a:prstGeom>
          <a:noFill/>
          <a:ln/>
        </p:spPr>
        <p:txBody>
          <a:bodyPr wrap="square" rtlCol="0" anchor="ctr"/>
          <a:lstStyle/>
          <a:p>
            <a:pPr marL="0" indent="0" algn="ctr">
              <a:lnSpc>
                <a:spcPct val="130000"/>
              </a:lnSpc>
              <a:buNone/>
            </a:pPr>
            <a:r>
              <a:rPr lang="en-US" sz="1500" dirty="0">
                <a:solidFill>
                  <a:srgbClr val="1A1D2B"/>
                </a:solidFill>
                <a:latin typeface="Calibri" pitchFamily="34" charset="0"/>
                <a:ea typeface="Calibri" pitchFamily="34" charset="-122"/>
                <a:cs typeface="Calibri" pitchFamily="34" charset="-120"/>
              </a:rPr>
              <a:t>A 10-question interactive quiz accompanies this training — covering email red flags, fake websites, and social engineering tactics.</a:t>
            </a:r>
            <a:endParaRPr lang="en-US" sz="1500" dirty="0"/>
          </a:p>
        </p:txBody>
      </p:sp>
      <p:sp>
        <p:nvSpPr>
          <p:cNvPr id="6" name="Shape 4"/>
          <p:cNvSpPr/>
          <p:nvPr/>
        </p:nvSpPr>
        <p:spPr>
          <a:xfrm>
            <a:off x="4251960" y="3840480"/>
            <a:ext cx="3657600" cy="640080"/>
          </a:xfrm>
          <a:prstGeom prst="roundRect">
            <a:avLst>
              <a:gd name="adj" fmla="val 17143"/>
            </a:avLst>
          </a:prstGeom>
          <a:solidFill>
            <a:srgbClr val="1E2761"/>
          </a:solidFill>
          <a:ln/>
        </p:spPr>
      </p:sp>
      <p:sp>
        <p:nvSpPr>
          <p:cNvPr id="7" name="Text 5"/>
          <p:cNvSpPr/>
          <p:nvPr/>
        </p:nvSpPr>
        <p:spPr>
          <a:xfrm>
            <a:off x="4251960" y="3840480"/>
            <a:ext cx="3657600" cy="64008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Open phishing_quiz.html</a:t>
            </a:r>
            <a:endParaRPr lang="en-US" sz="1500" dirty="0"/>
          </a:p>
        </p:txBody>
      </p:sp>
      <p:sp>
        <p:nvSpPr>
          <p:cNvPr id="8" name="Text 6"/>
          <p:cNvSpPr/>
          <p:nvPr/>
        </p:nvSpPr>
        <p:spPr>
          <a:xfrm>
            <a:off x="457200" y="6537960"/>
            <a:ext cx="8229600" cy="274320"/>
          </a:xfrm>
          <a:prstGeom prst="rect">
            <a:avLst/>
          </a:prstGeom>
          <a:noFill/>
          <a:ln/>
        </p:spPr>
        <p:txBody>
          <a:bodyPr wrap="square" rtlCol="0" anchor="ctr"/>
          <a:lstStyle/>
          <a:p>
            <a:pPr marL="0" indent="0">
              <a:buNone/>
            </a:pPr>
            <a:r>
              <a:rPr lang="en-US" sz="900" dirty="0">
                <a:solidFill>
                  <a:srgbClr val="5B6478"/>
                </a:solidFill>
                <a:latin typeface="Calibri" pitchFamily="34" charset="0"/>
                <a:ea typeface="Calibri" pitchFamily="34" charset="-122"/>
                <a:cs typeface="Calibri" pitchFamily="34" charset="-120"/>
              </a:rPr>
              <a:t>Phishing Awareness Training  |  CodeAlpha Cybersecurity Internship</a:t>
            </a:r>
            <a:endParaRPr lang="en-US" sz="900" dirty="0"/>
          </a:p>
        </p:txBody>
      </p:sp>
      <p:sp>
        <p:nvSpPr>
          <p:cNvPr id="9" name="Text 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B647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1B4D"/>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E2761"/>
          </a:solidFill>
          <a:ln/>
        </p:spPr>
      </p:sp>
      <p:sp>
        <p:nvSpPr>
          <p:cNvPr id="3" name="Shape 1"/>
          <p:cNvSpPr/>
          <p:nvPr/>
        </p:nvSpPr>
        <p:spPr>
          <a:xfrm>
            <a:off x="640080" y="640080"/>
            <a:ext cx="640080" cy="640080"/>
          </a:xfrm>
          <a:prstGeom prst="ellipse">
            <a:avLst/>
          </a:prstGeom>
          <a:solidFill>
            <a:srgbClr val="E63946"/>
          </a:solidFill>
          <a:ln/>
        </p:spPr>
      </p:sp>
      <p:sp>
        <p:nvSpPr>
          <p:cNvPr id="4" name="Text 2"/>
          <p:cNvSpPr/>
          <p:nvPr/>
        </p:nvSpPr>
        <p:spPr>
          <a:xfrm>
            <a:off x="640080" y="640080"/>
            <a:ext cx="640080" cy="640080"/>
          </a:xfrm>
          <a:prstGeom prst="rect">
            <a:avLst/>
          </a:prstGeom>
          <a:noFill/>
          <a:ln/>
        </p:spPr>
        <p:txBody>
          <a:bodyPr wrap="square" rtlCol="0" anchor="ctr"/>
          <a:lstStyle/>
          <a:p>
            <a:pPr marL="0" indent="0" algn="ctr">
              <a:buNone/>
            </a:pPr>
            <a:r>
              <a:rPr lang="en-US" sz="1960" b="1" dirty="0">
                <a:solidFill>
                  <a:srgbClr val="FFFFFF"/>
                </a:solidFill>
                <a:latin typeface="Calibri" pitchFamily="34" charset="0"/>
                <a:ea typeface="Calibri" pitchFamily="34" charset="-122"/>
                <a:cs typeface="Calibri" pitchFamily="34" charset="-120"/>
              </a:rPr>
              <a:t>✓</a:t>
            </a:r>
            <a:endParaRPr lang="en-US" sz="1960" dirty="0"/>
          </a:p>
        </p:txBody>
      </p:sp>
      <p:sp>
        <p:nvSpPr>
          <p:cNvPr id="5" name="Text 3"/>
          <p:cNvSpPr/>
          <p:nvPr/>
        </p:nvSpPr>
        <p:spPr>
          <a:xfrm>
            <a:off x="640080" y="2560320"/>
            <a:ext cx="10058400" cy="914400"/>
          </a:xfrm>
          <a:prstGeom prst="rect">
            <a:avLst/>
          </a:prstGeom>
          <a:noFill/>
          <a:ln/>
        </p:spPr>
        <p:txBody>
          <a:bodyPr wrap="square"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Stay Alert. Stay Skeptical.</a:t>
            </a:r>
            <a:endParaRPr lang="en-US" sz="4000" dirty="0"/>
          </a:p>
        </p:txBody>
      </p:sp>
      <p:sp>
        <p:nvSpPr>
          <p:cNvPr id="6" name="Text 4"/>
          <p:cNvSpPr/>
          <p:nvPr/>
        </p:nvSpPr>
        <p:spPr>
          <a:xfrm>
            <a:off x="640080" y="3566160"/>
            <a:ext cx="9144000" cy="457200"/>
          </a:xfrm>
          <a:prstGeom prst="rect">
            <a:avLst/>
          </a:prstGeom>
          <a:noFill/>
          <a:ln/>
        </p:spPr>
        <p:txBody>
          <a:bodyPr wrap="square" rtlCol="0" anchor="ctr"/>
          <a:lstStyle/>
          <a:p>
            <a:pPr marL="0" indent="0">
              <a:buNone/>
            </a:pPr>
            <a:r>
              <a:rPr lang="en-US" sz="1800" dirty="0">
                <a:solidFill>
                  <a:srgbClr val="CADCFC"/>
                </a:solidFill>
                <a:latin typeface="Calibri" pitchFamily="34" charset="0"/>
                <a:ea typeface="Calibri" pitchFamily="34" charset="-122"/>
                <a:cs typeface="Calibri" pitchFamily="34" charset="-120"/>
              </a:rPr>
              <a:t>Thank you for completing this training.</a:t>
            </a:r>
            <a:endParaRPr lang="en-US" sz="1800" dirty="0"/>
          </a:p>
        </p:txBody>
      </p:sp>
      <p:sp>
        <p:nvSpPr>
          <p:cNvPr id="7" name="Text 5"/>
          <p:cNvSpPr/>
          <p:nvPr/>
        </p:nvSpPr>
        <p:spPr>
          <a:xfrm>
            <a:off x="640080" y="6126480"/>
            <a:ext cx="9144000" cy="36576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Fredrick Agufenwa  |  CodeAlpha Cybersecurity Internship</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TotalTime>
  <Words>1336</Words>
  <Application>Microsoft Office PowerPoint</Application>
  <PresentationFormat>Widescreen</PresentationFormat>
  <Paragraphs>210</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Book Antiqua</vt:lpstr>
      <vt:lpstr>Calibri</vt:lpstr>
      <vt:lpstr>Cambria</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Agufenwa Fredrick</cp:lastModifiedBy>
  <cp:revision>5</cp:revision>
  <dcterms:created xsi:type="dcterms:W3CDTF">2026-07-12T12:01:44Z</dcterms:created>
  <dcterms:modified xsi:type="dcterms:W3CDTF">2026-07-12T12:42:25Z</dcterms:modified>
</cp:coreProperties>
</file>